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52" r:id="rId4"/>
  </p:sldMasterIdLst>
  <p:notesMasterIdLst>
    <p:notesMasterId r:id="rId16"/>
  </p:notesMasterIdLst>
  <p:handoutMasterIdLst>
    <p:handoutMasterId r:id="rId17"/>
  </p:handoutMasterIdLst>
  <p:sldIdLst>
    <p:sldId id="256" r:id="rId5"/>
    <p:sldId id="262" r:id="rId6"/>
    <p:sldId id="258" r:id="rId7"/>
    <p:sldId id="263" r:id="rId8"/>
    <p:sldId id="264" r:id="rId9"/>
    <p:sldId id="259" r:id="rId10"/>
    <p:sldId id="266" r:id="rId11"/>
    <p:sldId id="265" r:id="rId12"/>
    <p:sldId id="267" r:id="rId13"/>
    <p:sldId id="268" r:id="rId14"/>
    <p:sldId id="26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5" d="100"/>
          <a:sy n="65" d="100"/>
        </p:scale>
        <p:origin x="936" y="-6"/>
      </p:cViewPr>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F866C9-4A03-4AD4-8E51-2BAE1EB6D173}"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EC2E38C-B9EA-4AC4-87C3-18C259F9401A}">
      <dgm:prSet/>
      <dgm:spPr/>
      <dgm:t>
        <a:bodyPr/>
        <a:lstStyle/>
        <a:p>
          <a:pPr>
            <a:lnSpc>
              <a:spcPct val="100000"/>
            </a:lnSpc>
          </a:pPr>
          <a:r>
            <a:rPr lang="en-US" noProof="0" dirty="0"/>
            <a:t>Cities</a:t>
          </a:r>
        </a:p>
        <a:p>
          <a:pPr>
            <a:lnSpc>
              <a:spcPct val="100000"/>
            </a:lnSpc>
          </a:pPr>
          <a:r>
            <a:rPr lang="en-US" noProof="0" dirty="0"/>
            <a:t> 10</a:t>
          </a:r>
        </a:p>
      </dgm:t>
    </dgm:pt>
    <dgm:pt modelId="{56633E21-2D4F-4D35-A163-AA05ACDE458F}" type="parTrans" cxnId="{34B04A36-AFEA-4CD1-A11B-8FBE8A73338B}">
      <dgm:prSet/>
      <dgm:spPr/>
      <dgm:t>
        <a:bodyPr/>
        <a:lstStyle/>
        <a:p>
          <a:endParaRPr lang="en-US" sz="2100" noProof="0" dirty="0"/>
        </a:p>
      </dgm:t>
    </dgm:pt>
    <dgm:pt modelId="{257D8D46-D708-441A-9A94-08C16FB98397}" type="sibTrans" cxnId="{34B04A36-AFEA-4CD1-A11B-8FBE8A73338B}">
      <dgm:prSet/>
      <dgm:spPr/>
      <dgm:t>
        <a:bodyPr/>
        <a:lstStyle/>
        <a:p>
          <a:endParaRPr lang="en-US" noProof="0"/>
        </a:p>
      </dgm:t>
    </dgm:pt>
    <dgm:pt modelId="{6C7ABDD8-2116-4572-BFF1-942DE135219B}">
      <dgm:prSet/>
      <dgm:spPr/>
      <dgm:t>
        <a:bodyPr/>
        <a:lstStyle/>
        <a:p>
          <a:pPr>
            <a:lnSpc>
              <a:spcPct val="100000"/>
            </a:lnSpc>
          </a:pPr>
          <a:r>
            <a:rPr lang="en-US" noProof="0" dirty="0"/>
            <a:t>Store Types</a:t>
          </a:r>
        </a:p>
        <a:p>
          <a:pPr>
            <a:lnSpc>
              <a:spcPct val="100000"/>
            </a:lnSpc>
          </a:pPr>
          <a:r>
            <a:rPr lang="en-US" noProof="0" dirty="0"/>
            <a:t>08</a:t>
          </a:r>
        </a:p>
      </dgm:t>
    </dgm:pt>
    <dgm:pt modelId="{616469A4-BE2A-4C29-8A52-AB6BAF651012}" type="parTrans" cxnId="{0675954C-3CB5-402E-8880-DDA68CDDB758}">
      <dgm:prSet/>
      <dgm:spPr/>
      <dgm:t>
        <a:bodyPr/>
        <a:lstStyle/>
        <a:p>
          <a:endParaRPr lang="en-US" sz="2100" noProof="0" dirty="0"/>
        </a:p>
      </dgm:t>
    </dgm:pt>
    <dgm:pt modelId="{59BC6248-0FAC-49D0-8357-FB965100BBEE}" type="sibTrans" cxnId="{0675954C-3CB5-402E-8880-DDA68CDDB758}">
      <dgm:prSet/>
      <dgm:spPr/>
      <dgm:t>
        <a:bodyPr/>
        <a:lstStyle/>
        <a:p>
          <a:endParaRPr lang="en-US" noProof="0"/>
        </a:p>
      </dgm:t>
    </dgm:pt>
    <dgm:pt modelId="{44509D9E-58EE-4039-82A1-2A79116ACC93}">
      <dgm:prSet/>
      <dgm:spPr/>
      <dgm:t>
        <a:bodyPr/>
        <a:lstStyle/>
        <a:p>
          <a:pPr>
            <a:lnSpc>
              <a:spcPct val="100000"/>
            </a:lnSpc>
          </a:pPr>
          <a:r>
            <a:rPr lang="en-US" noProof="0" dirty="0"/>
            <a:t>Payment Methods</a:t>
          </a:r>
        </a:p>
        <a:p>
          <a:pPr>
            <a:lnSpc>
              <a:spcPct val="100000"/>
            </a:lnSpc>
          </a:pPr>
          <a:r>
            <a:rPr lang="en-US" noProof="0" dirty="0"/>
            <a:t>04</a:t>
          </a:r>
        </a:p>
      </dgm:t>
    </dgm:pt>
    <dgm:pt modelId="{5C426BE0-998E-4D28-8838-1C847BD83830}" type="parTrans" cxnId="{E0D91B55-A7CF-4FF4-B08D-DBE20AF8C2FE}">
      <dgm:prSet/>
      <dgm:spPr/>
      <dgm:t>
        <a:bodyPr/>
        <a:lstStyle/>
        <a:p>
          <a:endParaRPr lang="en-US" sz="2100" noProof="0" dirty="0"/>
        </a:p>
      </dgm:t>
    </dgm:pt>
    <dgm:pt modelId="{35B7AB1F-21FF-4FAC-BC26-4D944FC0050D}" type="sibTrans" cxnId="{E0D91B55-A7CF-4FF4-B08D-DBE20AF8C2FE}">
      <dgm:prSet/>
      <dgm:spPr/>
      <dgm:t>
        <a:bodyPr/>
        <a:lstStyle/>
        <a:p>
          <a:endParaRPr lang="en-US" noProof="0"/>
        </a:p>
      </dgm:t>
    </dgm:pt>
    <dgm:pt modelId="{5C1ADF5A-3A19-402D-9030-B72BA9E2EB35}">
      <dgm:prSet/>
      <dgm:spPr/>
      <dgm:t>
        <a:bodyPr/>
        <a:lstStyle/>
        <a:p>
          <a:pPr>
            <a:lnSpc>
              <a:spcPct val="100000"/>
            </a:lnSpc>
          </a:pPr>
          <a:r>
            <a:rPr lang="en-US" noProof="0" dirty="0"/>
            <a:t>Store Types</a:t>
          </a:r>
        </a:p>
        <a:p>
          <a:pPr>
            <a:lnSpc>
              <a:spcPct val="100000"/>
            </a:lnSpc>
          </a:pPr>
          <a:r>
            <a:rPr lang="en-US" noProof="0" dirty="0"/>
            <a:t>08</a:t>
          </a:r>
        </a:p>
      </dgm:t>
    </dgm:pt>
    <dgm:pt modelId="{8E25F227-B5E0-47F6-9138-18318F9E5736}" type="parTrans" cxnId="{C46DFB4C-395B-45EA-A5D5-66AA14E5DB2C}">
      <dgm:prSet/>
      <dgm:spPr/>
      <dgm:t>
        <a:bodyPr/>
        <a:lstStyle/>
        <a:p>
          <a:endParaRPr lang="en-PK"/>
        </a:p>
      </dgm:t>
    </dgm:pt>
    <dgm:pt modelId="{C75076B4-E102-49D2-88F1-593686ED0172}" type="sibTrans" cxnId="{C46DFB4C-395B-45EA-A5D5-66AA14E5DB2C}">
      <dgm:prSet/>
      <dgm:spPr/>
      <dgm:t>
        <a:bodyPr/>
        <a:lstStyle/>
        <a:p>
          <a:endParaRPr lang="en-PK"/>
        </a:p>
      </dgm:t>
    </dgm:pt>
    <dgm:pt modelId="{731CB9B8-9C9E-4777-B5E5-0C650C1CF671}" type="pres">
      <dgm:prSet presAssocID="{1AF866C9-4A03-4AD4-8E51-2BAE1EB6D173}" presName="root" presStyleCnt="0">
        <dgm:presLayoutVars>
          <dgm:dir/>
          <dgm:resizeHandles val="exact"/>
        </dgm:presLayoutVars>
      </dgm:prSet>
      <dgm:spPr/>
    </dgm:pt>
    <dgm:pt modelId="{0F838767-051F-4A41-B5BD-34FB3C75F12B}" type="pres">
      <dgm:prSet presAssocID="{BEC2E38C-B9EA-4AC4-87C3-18C259F9401A}" presName="compNode" presStyleCnt="0"/>
      <dgm:spPr/>
    </dgm:pt>
    <dgm:pt modelId="{5A075809-8C75-4E04-803F-AFF163039B65}" type="pres">
      <dgm:prSet presAssocID="{BEC2E38C-B9EA-4AC4-87C3-18C259F9401A}" presName="iconRect" presStyleLbl="node1" presStyleIdx="0" presStyleCnt="4" custLinFactNeighborX="42896" custLinFactNeighborY="-2456"/>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Earth globe: Asia and Australia with solid fill"/>
        </a:ext>
      </dgm:extLst>
    </dgm:pt>
    <dgm:pt modelId="{61FEAC64-1B83-4E3A-AA87-4304788BDB55}" type="pres">
      <dgm:prSet presAssocID="{BEC2E38C-B9EA-4AC4-87C3-18C259F9401A}" presName="spaceRect" presStyleCnt="0"/>
      <dgm:spPr/>
    </dgm:pt>
    <dgm:pt modelId="{E15304F6-1159-42A1-9C34-3730AFDDA2CD}" type="pres">
      <dgm:prSet presAssocID="{BEC2E38C-B9EA-4AC4-87C3-18C259F9401A}" presName="textRect" presStyleLbl="revTx" presStyleIdx="0" presStyleCnt="4" custLinFactNeighborX="18133" custLinFactNeighborY="-9621">
        <dgm:presLayoutVars>
          <dgm:chMax val="1"/>
          <dgm:chPref val="1"/>
        </dgm:presLayoutVars>
      </dgm:prSet>
      <dgm:spPr/>
    </dgm:pt>
    <dgm:pt modelId="{5EF07DF1-4052-44A1-A0AF-0A363D6B0630}" type="pres">
      <dgm:prSet presAssocID="{257D8D46-D708-441A-9A94-08C16FB98397}" presName="sibTrans" presStyleCnt="0"/>
      <dgm:spPr/>
    </dgm:pt>
    <dgm:pt modelId="{076BEFD0-E9ED-4E7F-9673-6E011B5A08E2}" type="pres">
      <dgm:prSet presAssocID="{6C7ABDD8-2116-4572-BFF1-942DE135219B}" presName="compNode" presStyleCnt="0"/>
      <dgm:spPr/>
    </dgm:pt>
    <dgm:pt modelId="{149365D4-02F1-45AD-91FD-EDDC4F0E9A67}" type="pres">
      <dgm:prSet presAssocID="{6C7ABDD8-2116-4572-BFF1-942DE135219B}" presName="iconRect" presStyleLbl="node1" presStyleIdx="1" presStyleCnt="4" custScaleX="109275" custScaleY="99172" custLinFactX="100000" custLinFactNeighborX="146430" custLinFactNeighborY="144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Money with solid fill"/>
        </a:ext>
      </dgm:extLst>
    </dgm:pt>
    <dgm:pt modelId="{447A0DDA-36E4-40AA-925D-E48F6CE3CB04}" type="pres">
      <dgm:prSet presAssocID="{6C7ABDD8-2116-4572-BFF1-942DE135219B}" presName="spaceRect" presStyleCnt="0"/>
      <dgm:spPr/>
    </dgm:pt>
    <dgm:pt modelId="{4BFFB028-C0D7-44EE-803C-2FE7CB0A5632}" type="pres">
      <dgm:prSet presAssocID="{6C7ABDD8-2116-4572-BFF1-942DE135219B}" presName="textRect" presStyleLbl="revTx" presStyleIdx="1" presStyleCnt="4" custScaleX="73410" custLinFactNeighborX="1775" custLinFactNeighborY="-7697">
        <dgm:presLayoutVars>
          <dgm:chMax val="1"/>
          <dgm:chPref val="1"/>
        </dgm:presLayoutVars>
      </dgm:prSet>
      <dgm:spPr/>
    </dgm:pt>
    <dgm:pt modelId="{BD707A12-FF25-4CE0-97F9-4B4B6BAF0972}" type="pres">
      <dgm:prSet presAssocID="{59BC6248-0FAC-49D0-8357-FB965100BBEE}" presName="sibTrans" presStyleCnt="0"/>
      <dgm:spPr/>
    </dgm:pt>
    <dgm:pt modelId="{5CC278AE-9618-4F63-A36B-DABFF003969D}" type="pres">
      <dgm:prSet presAssocID="{44509D9E-58EE-4039-82A1-2A79116ACC93}" presName="compNode" presStyleCnt="0"/>
      <dgm:spPr/>
    </dgm:pt>
    <dgm:pt modelId="{72D006BC-B9B3-458C-9768-07D20D6CD37A}" type="pres">
      <dgm:prSet presAssocID="{44509D9E-58EE-4039-82A1-2A79116ACC93}" presName="iconRect" presStyleLbl="node1" presStyleIdx="2" presStyleCnt="4" custLinFactX="-100000" custLinFactNeighborX="-154490" custLinFactNeighborY="9538"/>
      <dgm:spPr>
        <a:blipFill rotWithShape="1">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Shopping cart with solid fill"/>
        </a:ext>
      </dgm:extLst>
    </dgm:pt>
    <dgm:pt modelId="{E1CA841E-18DE-4CC2-894E-42813BF3A61C}" type="pres">
      <dgm:prSet presAssocID="{44509D9E-58EE-4039-82A1-2A79116ACC93}" presName="spaceRect" presStyleCnt="0"/>
      <dgm:spPr/>
    </dgm:pt>
    <dgm:pt modelId="{7A8D41E0-D064-4F64-B2E2-37349575417C}" type="pres">
      <dgm:prSet presAssocID="{44509D9E-58EE-4039-82A1-2A79116ACC93}" presName="textRect" presStyleLbl="revTx" presStyleIdx="2" presStyleCnt="4" custLinFactNeighborX="914" custLinFactNeighborY="-955">
        <dgm:presLayoutVars>
          <dgm:chMax val="1"/>
          <dgm:chPref val="1"/>
        </dgm:presLayoutVars>
      </dgm:prSet>
      <dgm:spPr/>
    </dgm:pt>
    <dgm:pt modelId="{E0685933-C317-4998-9537-23B2CF938879}" type="pres">
      <dgm:prSet presAssocID="{35B7AB1F-21FF-4FAC-BC26-4D944FC0050D}" presName="sibTrans" presStyleCnt="0"/>
      <dgm:spPr/>
    </dgm:pt>
    <dgm:pt modelId="{57DC58F9-6538-41B7-AA81-0D0CF903AF71}" type="pres">
      <dgm:prSet presAssocID="{5C1ADF5A-3A19-402D-9030-B72BA9E2EB35}" presName="compNode" presStyleCnt="0"/>
      <dgm:spPr/>
    </dgm:pt>
    <dgm:pt modelId="{F1609429-1216-4FFA-879F-53F441F761C4}" type="pres">
      <dgm:prSet presAssocID="{5C1ADF5A-3A19-402D-9030-B72BA9E2EB3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Podium"/>
        </a:ext>
      </dgm:extLst>
    </dgm:pt>
    <dgm:pt modelId="{BBD13A5B-E875-41A0-B1D6-CB47BA467C6F}" type="pres">
      <dgm:prSet presAssocID="{5C1ADF5A-3A19-402D-9030-B72BA9E2EB35}" presName="spaceRect" presStyleCnt="0"/>
      <dgm:spPr/>
    </dgm:pt>
    <dgm:pt modelId="{DE32BDE5-9E35-49F0-B71A-95D0A3E0F0A2}" type="pres">
      <dgm:prSet presAssocID="{5C1ADF5A-3A19-402D-9030-B72BA9E2EB35}" presName="textRect" presStyleLbl="revTx" presStyleIdx="3" presStyleCnt="4" custScaleX="73410" custLinFactNeighborX="-4944" custLinFactNeighborY="-5773">
        <dgm:presLayoutVars>
          <dgm:chMax val="1"/>
          <dgm:chPref val="1"/>
        </dgm:presLayoutVars>
      </dgm:prSet>
      <dgm:spPr/>
    </dgm:pt>
  </dgm:ptLst>
  <dgm:cxnLst>
    <dgm:cxn modelId="{24E50908-97BC-4FCD-9A52-4DDE05F82CE2}" type="presOf" srcId="{5C1ADF5A-3A19-402D-9030-B72BA9E2EB35}" destId="{DE32BDE5-9E35-49F0-B71A-95D0A3E0F0A2}" srcOrd="0" destOrd="0" presId="urn:microsoft.com/office/officeart/2018/2/layout/IconLabelList"/>
    <dgm:cxn modelId="{72D9BD25-E96B-4410-A062-9484C5CE02DA}" type="presOf" srcId="{1AF866C9-4A03-4AD4-8E51-2BAE1EB6D173}" destId="{731CB9B8-9C9E-4777-B5E5-0C650C1CF671}" srcOrd="0" destOrd="0" presId="urn:microsoft.com/office/officeart/2018/2/layout/IconLabelList"/>
    <dgm:cxn modelId="{34B04A36-AFEA-4CD1-A11B-8FBE8A73338B}" srcId="{1AF866C9-4A03-4AD4-8E51-2BAE1EB6D173}" destId="{BEC2E38C-B9EA-4AC4-87C3-18C259F9401A}" srcOrd="0" destOrd="0" parTransId="{56633E21-2D4F-4D35-A163-AA05ACDE458F}" sibTransId="{257D8D46-D708-441A-9A94-08C16FB98397}"/>
    <dgm:cxn modelId="{0675954C-3CB5-402E-8880-DDA68CDDB758}" srcId="{1AF866C9-4A03-4AD4-8E51-2BAE1EB6D173}" destId="{6C7ABDD8-2116-4572-BFF1-942DE135219B}" srcOrd="1" destOrd="0" parTransId="{616469A4-BE2A-4C29-8A52-AB6BAF651012}" sibTransId="{59BC6248-0FAC-49D0-8357-FB965100BBEE}"/>
    <dgm:cxn modelId="{C46DFB4C-395B-45EA-A5D5-66AA14E5DB2C}" srcId="{1AF866C9-4A03-4AD4-8E51-2BAE1EB6D173}" destId="{5C1ADF5A-3A19-402D-9030-B72BA9E2EB35}" srcOrd="3" destOrd="0" parTransId="{8E25F227-B5E0-47F6-9138-18318F9E5736}" sibTransId="{C75076B4-E102-49D2-88F1-593686ED0172}"/>
    <dgm:cxn modelId="{E0D91B55-A7CF-4FF4-B08D-DBE20AF8C2FE}" srcId="{1AF866C9-4A03-4AD4-8E51-2BAE1EB6D173}" destId="{44509D9E-58EE-4039-82A1-2A79116ACC93}" srcOrd="2" destOrd="0" parTransId="{5C426BE0-998E-4D28-8838-1C847BD83830}" sibTransId="{35B7AB1F-21FF-4FAC-BC26-4D944FC0050D}"/>
    <dgm:cxn modelId="{27509A94-55FC-46A0-A9A6-A22BC85E8597}" type="presOf" srcId="{6C7ABDD8-2116-4572-BFF1-942DE135219B}" destId="{4BFFB028-C0D7-44EE-803C-2FE7CB0A5632}" srcOrd="0" destOrd="0" presId="urn:microsoft.com/office/officeart/2018/2/layout/IconLabelList"/>
    <dgm:cxn modelId="{5A02ECB6-7367-493F-9D45-440E8F6BA283}" type="presOf" srcId="{44509D9E-58EE-4039-82A1-2A79116ACC93}" destId="{7A8D41E0-D064-4F64-B2E2-37349575417C}" srcOrd="0" destOrd="0" presId="urn:microsoft.com/office/officeart/2018/2/layout/IconLabelList"/>
    <dgm:cxn modelId="{2FC20AD0-E211-4DAB-A7E2-76FB18A84C4C}" type="presOf" srcId="{BEC2E38C-B9EA-4AC4-87C3-18C259F9401A}" destId="{E15304F6-1159-42A1-9C34-3730AFDDA2CD}" srcOrd="0" destOrd="0" presId="urn:microsoft.com/office/officeart/2018/2/layout/IconLabelList"/>
    <dgm:cxn modelId="{1DAC79F4-86A2-4FF2-973C-E58AD2F0F8A9}" type="presParOf" srcId="{731CB9B8-9C9E-4777-B5E5-0C650C1CF671}" destId="{0F838767-051F-4A41-B5BD-34FB3C75F12B}" srcOrd="0" destOrd="0" presId="urn:microsoft.com/office/officeart/2018/2/layout/IconLabelList"/>
    <dgm:cxn modelId="{C7E8690E-516D-4499-BDF5-191A25F02037}" type="presParOf" srcId="{0F838767-051F-4A41-B5BD-34FB3C75F12B}" destId="{5A075809-8C75-4E04-803F-AFF163039B65}" srcOrd="0" destOrd="0" presId="urn:microsoft.com/office/officeart/2018/2/layout/IconLabelList"/>
    <dgm:cxn modelId="{9A5CBF75-80AD-4A7D-97A2-4D65DA7FC8AD}" type="presParOf" srcId="{0F838767-051F-4A41-B5BD-34FB3C75F12B}" destId="{61FEAC64-1B83-4E3A-AA87-4304788BDB55}" srcOrd="1" destOrd="0" presId="urn:microsoft.com/office/officeart/2018/2/layout/IconLabelList"/>
    <dgm:cxn modelId="{5E64FA2A-8C48-4725-82DB-EBF6A2443D54}" type="presParOf" srcId="{0F838767-051F-4A41-B5BD-34FB3C75F12B}" destId="{E15304F6-1159-42A1-9C34-3730AFDDA2CD}" srcOrd="2" destOrd="0" presId="urn:microsoft.com/office/officeart/2018/2/layout/IconLabelList"/>
    <dgm:cxn modelId="{BE88A013-45F8-4A54-AB05-45FD35ADC38F}" type="presParOf" srcId="{731CB9B8-9C9E-4777-B5E5-0C650C1CF671}" destId="{5EF07DF1-4052-44A1-A0AF-0A363D6B0630}" srcOrd="1" destOrd="0" presId="urn:microsoft.com/office/officeart/2018/2/layout/IconLabelList"/>
    <dgm:cxn modelId="{9AC2D573-1C38-45BC-8067-16F43F77C5C0}" type="presParOf" srcId="{731CB9B8-9C9E-4777-B5E5-0C650C1CF671}" destId="{076BEFD0-E9ED-4E7F-9673-6E011B5A08E2}" srcOrd="2" destOrd="0" presId="urn:microsoft.com/office/officeart/2018/2/layout/IconLabelList"/>
    <dgm:cxn modelId="{B194EC7C-050A-4B04-A866-3DAB87F9E173}" type="presParOf" srcId="{076BEFD0-E9ED-4E7F-9673-6E011B5A08E2}" destId="{149365D4-02F1-45AD-91FD-EDDC4F0E9A67}" srcOrd="0" destOrd="0" presId="urn:microsoft.com/office/officeart/2018/2/layout/IconLabelList"/>
    <dgm:cxn modelId="{33789C51-F098-4835-AC2F-FAF87397EF84}" type="presParOf" srcId="{076BEFD0-E9ED-4E7F-9673-6E011B5A08E2}" destId="{447A0DDA-36E4-40AA-925D-E48F6CE3CB04}" srcOrd="1" destOrd="0" presId="urn:microsoft.com/office/officeart/2018/2/layout/IconLabelList"/>
    <dgm:cxn modelId="{255FDD29-5710-4FC9-863C-C220C7442AE7}" type="presParOf" srcId="{076BEFD0-E9ED-4E7F-9673-6E011B5A08E2}" destId="{4BFFB028-C0D7-44EE-803C-2FE7CB0A5632}" srcOrd="2" destOrd="0" presId="urn:microsoft.com/office/officeart/2018/2/layout/IconLabelList"/>
    <dgm:cxn modelId="{731028BA-21F4-4D07-8496-65CB56591CE5}" type="presParOf" srcId="{731CB9B8-9C9E-4777-B5E5-0C650C1CF671}" destId="{BD707A12-FF25-4CE0-97F9-4B4B6BAF0972}" srcOrd="3" destOrd="0" presId="urn:microsoft.com/office/officeart/2018/2/layout/IconLabelList"/>
    <dgm:cxn modelId="{154AD7BE-B962-4212-9F3B-E5F9DB8DDE7D}" type="presParOf" srcId="{731CB9B8-9C9E-4777-B5E5-0C650C1CF671}" destId="{5CC278AE-9618-4F63-A36B-DABFF003969D}" srcOrd="4" destOrd="0" presId="urn:microsoft.com/office/officeart/2018/2/layout/IconLabelList"/>
    <dgm:cxn modelId="{4E79B4FC-C1F5-4F20-9EF8-4F94FD2D8A6D}" type="presParOf" srcId="{5CC278AE-9618-4F63-A36B-DABFF003969D}" destId="{72D006BC-B9B3-458C-9768-07D20D6CD37A}" srcOrd="0" destOrd="0" presId="urn:microsoft.com/office/officeart/2018/2/layout/IconLabelList"/>
    <dgm:cxn modelId="{A5C54848-9E78-49FD-9EF1-C095038B5AD4}" type="presParOf" srcId="{5CC278AE-9618-4F63-A36B-DABFF003969D}" destId="{E1CA841E-18DE-4CC2-894E-42813BF3A61C}" srcOrd="1" destOrd="0" presId="urn:microsoft.com/office/officeart/2018/2/layout/IconLabelList"/>
    <dgm:cxn modelId="{7E8EA5BF-02CC-41C2-A7CF-B153778365B6}" type="presParOf" srcId="{5CC278AE-9618-4F63-A36B-DABFF003969D}" destId="{7A8D41E0-D064-4F64-B2E2-37349575417C}" srcOrd="2" destOrd="0" presId="urn:microsoft.com/office/officeart/2018/2/layout/IconLabelList"/>
    <dgm:cxn modelId="{6853BD9C-2760-4C39-9212-5FF572784135}" type="presParOf" srcId="{731CB9B8-9C9E-4777-B5E5-0C650C1CF671}" destId="{E0685933-C317-4998-9537-23B2CF938879}" srcOrd="5" destOrd="0" presId="urn:microsoft.com/office/officeart/2018/2/layout/IconLabelList"/>
    <dgm:cxn modelId="{1542A6C8-B643-4D0B-AF28-2F9BF44AAD8E}" type="presParOf" srcId="{731CB9B8-9C9E-4777-B5E5-0C650C1CF671}" destId="{57DC58F9-6538-41B7-AA81-0D0CF903AF71}" srcOrd="6" destOrd="0" presId="urn:microsoft.com/office/officeart/2018/2/layout/IconLabelList"/>
    <dgm:cxn modelId="{6231CF0D-FCBB-485B-9287-D94A93D733EE}" type="presParOf" srcId="{57DC58F9-6538-41B7-AA81-0D0CF903AF71}" destId="{F1609429-1216-4FFA-879F-53F441F761C4}" srcOrd="0" destOrd="0" presId="urn:microsoft.com/office/officeart/2018/2/layout/IconLabelList"/>
    <dgm:cxn modelId="{8E174C85-8047-49B6-8ACE-8E6F0876660F}" type="presParOf" srcId="{57DC58F9-6538-41B7-AA81-0D0CF903AF71}" destId="{BBD13A5B-E875-41A0-B1D6-CB47BA467C6F}" srcOrd="1" destOrd="0" presId="urn:microsoft.com/office/officeart/2018/2/layout/IconLabelList"/>
    <dgm:cxn modelId="{D269CD23-0C5D-4250-8EDE-64CC0AD1B440}" type="presParOf" srcId="{57DC58F9-6538-41B7-AA81-0D0CF903AF71}" destId="{DE32BDE5-9E35-49F0-B71A-95D0A3E0F0A2}"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075809-8C75-4E04-803F-AFF163039B65}">
      <dsp:nvSpPr>
        <dsp:cNvPr id="0" name=""/>
        <dsp:cNvSpPr/>
      </dsp:nvSpPr>
      <dsp:spPr>
        <a:xfrm>
          <a:off x="1198035" y="600802"/>
          <a:ext cx="1065841" cy="1065841"/>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15304F6-1159-42A1-9C34-3730AFDDA2CD}">
      <dsp:nvSpPr>
        <dsp:cNvPr id="0" name=""/>
        <dsp:cNvSpPr/>
      </dsp:nvSpPr>
      <dsp:spPr>
        <a:xfrm>
          <a:off x="518970" y="1938879"/>
          <a:ext cx="236853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US" sz="2200" kern="1200" noProof="0" dirty="0"/>
            <a:t>Cities</a:t>
          </a:r>
        </a:p>
        <a:p>
          <a:pPr marL="0" lvl="0" indent="0" algn="ctr" defTabSz="977900">
            <a:lnSpc>
              <a:spcPct val="100000"/>
            </a:lnSpc>
            <a:spcBef>
              <a:spcPct val="0"/>
            </a:spcBef>
            <a:spcAft>
              <a:spcPct val="35000"/>
            </a:spcAft>
            <a:buNone/>
          </a:pPr>
          <a:r>
            <a:rPr lang="en-US" sz="2200" kern="1200" noProof="0" dirty="0"/>
            <a:t> 10</a:t>
          </a:r>
        </a:p>
      </dsp:txBody>
      <dsp:txXfrm>
        <a:off x="518970" y="1938879"/>
        <a:ext cx="2368537" cy="720000"/>
      </dsp:txXfrm>
    </dsp:sp>
    <dsp:sp modelId="{149365D4-02F1-45AD-91FD-EDDC4F0E9A67}">
      <dsp:nvSpPr>
        <dsp:cNvPr id="0" name=""/>
        <dsp:cNvSpPr/>
      </dsp:nvSpPr>
      <dsp:spPr>
        <a:xfrm>
          <a:off x="6100988" y="644576"/>
          <a:ext cx="1164698" cy="105701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BFFB028-C0D7-44EE-803C-2FE7CB0A5632}">
      <dsp:nvSpPr>
        <dsp:cNvPr id="0" name=""/>
        <dsp:cNvSpPr/>
      </dsp:nvSpPr>
      <dsp:spPr>
        <a:xfrm>
          <a:off x="3229454" y="1950526"/>
          <a:ext cx="173874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US" sz="2200" kern="1200" noProof="0" dirty="0"/>
            <a:t>Store Types</a:t>
          </a:r>
        </a:p>
        <a:p>
          <a:pPr marL="0" lvl="0" indent="0" algn="ctr" defTabSz="977900">
            <a:lnSpc>
              <a:spcPct val="100000"/>
            </a:lnSpc>
            <a:spcBef>
              <a:spcPct val="0"/>
            </a:spcBef>
            <a:spcAft>
              <a:spcPct val="35000"/>
            </a:spcAft>
            <a:buNone/>
          </a:pPr>
          <a:r>
            <a:rPr lang="en-US" sz="2200" kern="1200" noProof="0" dirty="0"/>
            <a:t>08</a:t>
          </a:r>
        </a:p>
      </dsp:txBody>
      <dsp:txXfrm>
        <a:off x="3229454" y="1950526"/>
        <a:ext cx="1738743" cy="720000"/>
      </dsp:txXfrm>
    </dsp:sp>
    <dsp:sp modelId="{72D006BC-B9B3-458C-9768-07D20D6CD37A}">
      <dsp:nvSpPr>
        <dsp:cNvPr id="0" name=""/>
        <dsp:cNvSpPr/>
      </dsp:nvSpPr>
      <dsp:spPr>
        <a:xfrm>
          <a:off x="3594433" y="728639"/>
          <a:ext cx="1065841" cy="1065841"/>
        </a:xfrm>
        <a:prstGeom prst="rect">
          <a:avLst/>
        </a:prstGeom>
        <a:blipFill rotWithShape="1">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A8D41E0-D064-4F64-B2E2-37349575417C}">
      <dsp:nvSpPr>
        <dsp:cNvPr id="0" name=""/>
        <dsp:cNvSpPr/>
      </dsp:nvSpPr>
      <dsp:spPr>
        <a:xfrm>
          <a:off x="5677195" y="2001274"/>
          <a:ext cx="236853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US" sz="2200" kern="1200" noProof="0" dirty="0"/>
            <a:t>Payment Methods</a:t>
          </a:r>
        </a:p>
        <a:p>
          <a:pPr marL="0" lvl="0" indent="0" algn="ctr" defTabSz="977900">
            <a:lnSpc>
              <a:spcPct val="100000"/>
            </a:lnSpc>
            <a:spcBef>
              <a:spcPct val="0"/>
            </a:spcBef>
            <a:spcAft>
              <a:spcPct val="35000"/>
            </a:spcAft>
            <a:buNone/>
          </a:pPr>
          <a:r>
            <a:rPr lang="en-US" sz="2200" kern="1200" noProof="0" dirty="0"/>
            <a:t>04</a:t>
          </a:r>
        </a:p>
      </dsp:txBody>
      <dsp:txXfrm>
        <a:off x="5677195" y="2001274"/>
        <a:ext cx="2368537" cy="720000"/>
      </dsp:txXfrm>
    </dsp:sp>
    <dsp:sp modelId="{F1609429-1216-4FFA-879F-53F441F761C4}">
      <dsp:nvSpPr>
        <dsp:cNvPr id="0" name=""/>
        <dsp:cNvSpPr/>
      </dsp:nvSpPr>
      <dsp:spPr>
        <a:xfrm>
          <a:off x="9089926" y="626979"/>
          <a:ext cx="1065841" cy="106584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E32BDE5-9E35-49F0-B71A-95D0A3E0F0A2}">
      <dsp:nvSpPr>
        <dsp:cNvPr id="0" name=""/>
        <dsp:cNvSpPr/>
      </dsp:nvSpPr>
      <dsp:spPr>
        <a:xfrm>
          <a:off x="8636375" y="1966585"/>
          <a:ext cx="173874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US" sz="2200" kern="1200" noProof="0" dirty="0"/>
            <a:t>Store Types</a:t>
          </a:r>
        </a:p>
        <a:p>
          <a:pPr marL="0" lvl="0" indent="0" algn="ctr" defTabSz="977900">
            <a:lnSpc>
              <a:spcPct val="100000"/>
            </a:lnSpc>
            <a:spcBef>
              <a:spcPct val="0"/>
            </a:spcBef>
            <a:spcAft>
              <a:spcPct val="35000"/>
            </a:spcAft>
            <a:buNone/>
          </a:pPr>
          <a:r>
            <a:rPr lang="en-US" sz="2200" kern="1200" noProof="0" dirty="0"/>
            <a:t>08</a:t>
          </a:r>
        </a:p>
      </dsp:txBody>
      <dsp:txXfrm>
        <a:off x="8636375" y="1966585"/>
        <a:ext cx="1738743"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C290E50-D3EA-4329-AA5F-AF5A5C575D8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6112D18-5CEB-46F3-924F-E35464AAA36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E35D1AD-E24C-4E82-BC85-28527A42DCE7}" type="datetimeFigureOut">
              <a:rPr lang="en-US" smtClean="0"/>
              <a:t>1/11/2026</a:t>
            </a:fld>
            <a:endParaRPr lang="en-US" dirty="0"/>
          </a:p>
        </p:txBody>
      </p:sp>
      <p:sp>
        <p:nvSpPr>
          <p:cNvPr id="4" name="Footer Placeholder 3">
            <a:extLst>
              <a:ext uri="{FF2B5EF4-FFF2-40B4-BE49-F238E27FC236}">
                <a16:creationId xmlns:a16="http://schemas.microsoft.com/office/drawing/2014/main" id="{EB8FC0ED-2712-4B69-9F16-123F02DBF5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2CBD00C-2269-4424-828A-8D893B52266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70B3793-D85E-4082-925C-FAA1A2B27276}" type="slidenum">
              <a:rPr lang="en-US" smtClean="0"/>
              <a:t>‹#›</a:t>
            </a:fld>
            <a:endParaRPr lang="en-US" dirty="0"/>
          </a:p>
        </p:txBody>
      </p:sp>
    </p:spTree>
    <p:extLst>
      <p:ext uri="{BB962C8B-B14F-4D97-AF65-F5344CB8AC3E}">
        <p14:creationId xmlns:p14="http://schemas.microsoft.com/office/powerpoint/2010/main" val="22338639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55EA34-3951-4B6D-8DDD-B157CE00471C}" type="datetimeFigureOut">
              <a:rPr lang="en-US" smtClean="0"/>
              <a:t>1/11/2026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B3E965-974B-498D-B360-83DD1F9DEB55}" type="slidenum">
              <a:rPr lang="en-US" smtClean="0"/>
              <a:t>‹#›</a:t>
            </a:fld>
            <a:endParaRPr lang="en-US" dirty="0"/>
          </a:p>
        </p:txBody>
      </p:sp>
    </p:spTree>
    <p:extLst>
      <p:ext uri="{BB962C8B-B14F-4D97-AF65-F5344CB8AC3E}">
        <p14:creationId xmlns:p14="http://schemas.microsoft.com/office/powerpoint/2010/main" val="2383636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B3E965-974B-498D-B360-83DD1F9DEB55}" type="slidenum">
              <a:rPr lang="en-US" smtClean="0"/>
              <a:t>1</a:t>
            </a:fld>
            <a:endParaRPr lang="en-US" dirty="0"/>
          </a:p>
        </p:txBody>
      </p:sp>
    </p:spTree>
    <p:extLst>
      <p:ext uri="{BB962C8B-B14F-4D97-AF65-F5344CB8AC3E}">
        <p14:creationId xmlns:p14="http://schemas.microsoft.com/office/powerpoint/2010/main" val="2289652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B3E965-974B-498D-B360-83DD1F9DEB55}" type="slidenum">
              <a:rPr lang="en-US" smtClean="0"/>
              <a:t>2</a:t>
            </a:fld>
            <a:endParaRPr lang="en-US" dirty="0"/>
          </a:p>
        </p:txBody>
      </p:sp>
    </p:spTree>
    <p:extLst>
      <p:ext uri="{BB962C8B-B14F-4D97-AF65-F5344CB8AC3E}">
        <p14:creationId xmlns:p14="http://schemas.microsoft.com/office/powerpoint/2010/main" val="2389412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B3E965-974B-498D-B360-83DD1F9DEB55}" type="slidenum">
              <a:rPr lang="en-US" smtClean="0"/>
              <a:t>3</a:t>
            </a:fld>
            <a:endParaRPr lang="en-US" dirty="0"/>
          </a:p>
        </p:txBody>
      </p:sp>
    </p:spTree>
    <p:extLst>
      <p:ext uri="{BB962C8B-B14F-4D97-AF65-F5344CB8AC3E}">
        <p14:creationId xmlns:p14="http://schemas.microsoft.com/office/powerpoint/2010/main" val="36646584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B3E965-974B-498D-B360-83DD1F9DEB55}" type="slidenum">
              <a:rPr lang="en-US" smtClean="0"/>
              <a:t>6</a:t>
            </a:fld>
            <a:endParaRPr lang="en-US" dirty="0"/>
          </a:p>
        </p:txBody>
      </p:sp>
    </p:spTree>
    <p:extLst>
      <p:ext uri="{BB962C8B-B14F-4D97-AF65-F5344CB8AC3E}">
        <p14:creationId xmlns:p14="http://schemas.microsoft.com/office/powerpoint/2010/main" val="2935861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B3E965-974B-498D-B360-83DD1F9DEB55}" type="slidenum">
              <a:rPr lang="en-US" smtClean="0"/>
              <a:t>11</a:t>
            </a:fld>
            <a:endParaRPr lang="en-US" dirty="0"/>
          </a:p>
        </p:txBody>
      </p:sp>
    </p:spTree>
    <p:extLst>
      <p:ext uri="{BB962C8B-B14F-4D97-AF65-F5344CB8AC3E}">
        <p14:creationId xmlns:p14="http://schemas.microsoft.com/office/powerpoint/2010/main" val="2452642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noProof="0"/>
              <a:t>Click to edit Master title style</a:t>
            </a:r>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a:t>Click to edit Master subtitle style</a:t>
            </a:r>
          </a:p>
        </p:txBody>
      </p:sp>
      <p:sp>
        <p:nvSpPr>
          <p:cNvPr id="4" name="Date Placeholder 3"/>
          <p:cNvSpPr>
            <a:spLocks noGrp="1"/>
          </p:cNvSpPr>
          <p:nvPr>
            <p:ph type="dt" sz="half" idx="10"/>
          </p:nvPr>
        </p:nvSpPr>
        <p:spPr/>
        <p:txBody>
          <a:bodyPr/>
          <a:lstStyle>
            <a:lvl1pPr algn="l">
              <a:defRPr/>
            </a:lvl1pPr>
          </a:lstStyle>
          <a:p>
            <a:fld id="{9AB3A824-1A51-4B26-AD58-A6D8E14F6C04}" type="datetimeFigureOut">
              <a:rPr lang="en-US" noProof="0" smtClean="0"/>
              <a:t>1/11/2026</a:t>
            </a:fld>
            <a:endParaRPr lang="en-US" noProof="0" dirty="0"/>
          </a:p>
        </p:txBody>
      </p:sp>
      <p:sp>
        <p:nvSpPr>
          <p:cNvPr id="5" name="Footer Placeholder 4"/>
          <p:cNvSpPr>
            <a:spLocks noGrp="1"/>
          </p:cNvSpPr>
          <p:nvPr>
            <p:ph type="ftr" sz="quarter" idx="11"/>
          </p:nvPr>
        </p:nvSpPr>
        <p:spPr/>
        <p:txBody>
          <a:bodyPr/>
          <a:lstStyle/>
          <a:p>
            <a:r>
              <a:rPr lang="en-US" noProof="0" dirty="0"/>
              <a:t>
              </a:t>
            </a:r>
          </a:p>
        </p:txBody>
      </p:sp>
      <p:sp>
        <p:nvSpPr>
          <p:cNvPr id="6" name="Slide Number Placeholder 5"/>
          <p:cNvSpPr>
            <a:spLocks noGrp="1"/>
          </p:cNvSpPr>
          <p:nvPr>
            <p:ph type="sldNum" sz="quarter" idx="12"/>
          </p:nvPr>
        </p:nvSpPr>
        <p:spPr/>
        <p:txBody>
          <a:bodyPr/>
          <a:lstStyle/>
          <a:p>
            <a:fld id="{6D22F896-40B5-4ADD-8801-0D06FADFA095}" type="slidenum">
              <a:rPr lang="en-US" noProof="0" smtClean="0"/>
              <a:t>‹#›</a:t>
            </a:fld>
            <a:endParaRPr lang="en-US" noProof="0" dirty="0"/>
          </a:p>
        </p:txBody>
      </p:sp>
      <p:cxnSp>
        <p:nvCxnSpPr>
          <p:cNvPr id="13" name="Straight Connector 12"/>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Tree>
    <p:extLst>
      <p:ext uri="{BB962C8B-B14F-4D97-AF65-F5344CB8AC3E}">
        <p14:creationId xmlns:p14="http://schemas.microsoft.com/office/powerpoint/2010/main" val="451507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Content Placeholder 2"/>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97D162C4-EDD9-4389-A98B-B87ECEA2A816}" type="datetimeFigureOut">
              <a:rPr lang="en-US" noProof="0" smtClean="0"/>
              <a:t>1/11/2026</a:t>
            </a:fld>
            <a:endParaRPr lang="en-US" noProof="0" dirty="0"/>
          </a:p>
        </p:txBody>
      </p:sp>
      <p:sp>
        <p:nvSpPr>
          <p:cNvPr id="5" name="Footer Placeholder 4"/>
          <p:cNvSpPr>
            <a:spLocks noGrp="1"/>
          </p:cNvSpPr>
          <p:nvPr>
            <p:ph type="ftr" sz="quarter" idx="11"/>
          </p:nvPr>
        </p:nvSpPr>
        <p:spPr/>
        <p:txBody>
          <a:bodyPr/>
          <a:lstStyle/>
          <a:p>
            <a:r>
              <a:rPr lang="en-US" noProof="0" dirty="0"/>
              <a:t>
              </a:t>
            </a:r>
          </a:p>
        </p:txBody>
      </p:sp>
      <p:sp>
        <p:nvSpPr>
          <p:cNvPr id="6" name="Slide Number Placeholder 5"/>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2230645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noProof="0"/>
              <a:t>Click to edit Master title style</a:t>
            </a:r>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noProof="0" smtClean="0"/>
              <a:t>1/11/2026</a:t>
            </a:fld>
            <a:endParaRPr lang="en-US" noProof="0" dirty="0"/>
          </a:p>
        </p:txBody>
      </p:sp>
      <p:sp>
        <p:nvSpPr>
          <p:cNvPr id="5" name="Footer Placeholder 4"/>
          <p:cNvSpPr>
            <a:spLocks noGrp="1"/>
          </p:cNvSpPr>
          <p:nvPr>
            <p:ph type="ftr" sz="quarter" idx="11"/>
          </p:nvPr>
        </p:nvSpPr>
        <p:spPr/>
        <p:txBody>
          <a:bodyPr/>
          <a:lstStyle/>
          <a:p>
            <a:r>
              <a:rPr lang="en-US" noProof="0" dirty="0"/>
              <a:t>
              </a:t>
            </a:r>
          </a:p>
        </p:txBody>
      </p:sp>
      <p:sp>
        <p:nvSpPr>
          <p:cNvPr id="6" name="Slide Number Placeholder 5"/>
          <p:cNvSpPr>
            <a:spLocks noGrp="1"/>
          </p:cNvSpPr>
          <p:nvPr>
            <p:ph type="sldNum" sz="quarter" idx="12"/>
          </p:nvPr>
        </p:nvSpPr>
        <p:spPr/>
        <p:txBody>
          <a:bodyPr/>
          <a:lstStyle/>
          <a:p>
            <a:fld id="{6D22F896-40B5-4ADD-8801-0D06FADFA095}" type="slidenum">
              <a:rPr lang="en-US" noProof="0" smtClean="0"/>
              <a:t>‹#›</a:t>
            </a:fld>
            <a:endParaRPr lang="en-US" noProof="0"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Tree>
    <p:extLst>
      <p:ext uri="{BB962C8B-B14F-4D97-AF65-F5344CB8AC3E}">
        <p14:creationId xmlns:p14="http://schemas.microsoft.com/office/powerpoint/2010/main" val="217646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noProof="0"/>
              <a:t>Click to edit Master title style</a:t>
            </a:r>
          </a:p>
        </p:txBody>
      </p:sp>
      <p:sp>
        <p:nvSpPr>
          <p:cNvPr id="3" name="Content Placeholder 2"/>
          <p:cNvSpPr>
            <a:spLocks noGrp="1"/>
          </p:cNvSpPr>
          <p:nvPr>
            <p:ph sz="half" idx="1"/>
          </p:nvPr>
        </p:nvSpPr>
        <p:spPr>
          <a:xfrm>
            <a:off x="1024127" y="2286000"/>
            <a:ext cx="4754880" cy="402336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5989320" y="2286000"/>
            <a:ext cx="4754880" cy="402336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p:txBody>
          <a:bodyPr/>
          <a:lstStyle/>
          <a:p>
            <a:fld id="{CA954B2F-12DE-47F5-8894-472B206D2E1E}" type="datetimeFigureOut">
              <a:rPr lang="en-US" noProof="0" smtClean="0"/>
              <a:t>1/11/2026</a:t>
            </a:fld>
            <a:endParaRPr lang="en-US" noProof="0" dirty="0"/>
          </a:p>
        </p:txBody>
      </p:sp>
      <p:sp>
        <p:nvSpPr>
          <p:cNvPr id="6" name="Footer Placeholder 5"/>
          <p:cNvSpPr>
            <a:spLocks noGrp="1"/>
          </p:cNvSpPr>
          <p:nvPr>
            <p:ph type="ftr" sz="quarter" idx="11"/>
          </p:nvPr>
        </p:nvSpPr>
        <p:spPr/>
        <p:txBody>
          <a:bodyPr/>
          <a:lstStyle/>
          <a:p>
            <a:r>
              <a:rPr lang="en-US" noProof="0" dirty="0"/>
              <a:t>
              </a:t>
            </a:r>
          </a:p>
        </p:txBody>
      </p:sp>
      <p:sp>
        <p:nvSpPr>
          <p:cNvPr id="7" name="Slide Number Placeholder 6"/>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3279582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smtClean="0"/>
              <a:t>1/11/2026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05863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smtClean="0"/>
              <a:t>1/11/2026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89618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1D9284-D300-4297-87F7-E791DCC15DB1}" type="datetimeFigureOut">
              <a:rPr lang="en-US" smtClean="0"/>
              <a:t>1/11/2026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03964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smtClean="0"/>
              <a:t>1/11/2026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33651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smtClean="0"/>
              <a:t>1/11/2026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8804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smtClean="0"/>
              <a:t>1/11/2026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47278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smtClean="0"/>
              <a:t>1/11/2026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8959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3CBC1C18-307B-4F68-A007-B5B542270E8D}" type="datetimeFigureOut">
              <a:rPr lang="en-US" noProof="0" smtClean="0"/>
              <a:t>1/11/2026</a:t>
            </a:fld>
            <a:endParaRPr lang="en-US" noProof="0"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en-US" noProof="0" dirty="0"/>
              <a:t>
              </a:t>
            </a: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6D22F896-40B5-4ADD-8801-0D06FADFA095}" type="slidenum">
              <a:rPr lang="en-US" noProof="0" smtClean="0"/>
              <a:pPr/>
              <a:t>‹#›</a:t>
            </a:fld>
            <a:endParaRPr lang="en-US" noProof="0" dirty="0"/>
          </a:p>
        </p:txBody>
      </p:sp>
      <p:cxnSp>
        <p:nvCxnSpPr>
          <p:cNvPr id="8" name="Straight Connector 7"/>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102846"/>
      </p:ext>
    </p:extLst>
  </p:cSld>
  <p:clrMap bg1="dk1" tx1="lt1" bg2="dk2" tx2="lt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8D726A5-7900-41B4-8D49-49B4A2010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Coffee Beans">
            <a:extLst>
              <a:ext uri="{FF2B5EF4-FFF2-40B4-BE49-F238E27FC236}">
                <a16:creationId xmlns:a16="http://schemas.microsoft.com/office/drawing/2014/main" id="{291BDB91-E757-4677-A38C-EB354240C835}"/>
              </a:ext>
            </a:extLst>
          </p:cNvPr>
          <p:cNvPicPr>
            <a:picLocks noChangeAspect="1"/>
          </p:cNvPicPr>
          <p:nvPr/>
        </p:nvPicPr>
        <p:blipFill rotWithShape="1">
          <a:blip r:embed="rId3" cstate="screen">
            <a:alphaModFix amt="45000"/>
            <a:extLst>
              <a:ext uri="{28A0092B-C50C-407E-A947-70E740481C1C}">
                <a14:useLocalDpi xmlns:a14="http://schemas.microsoft.com/office/drawing/2010/main"/>
              </a:ext>
            </a:extLst>
          </a:blip>
          <a:srcRect r="25"/>
          <a:stretch/>
        </p:blipFill>
        <p:spPr>
          <a:xfrm>
            <a:off x="20" y="-1"/>
            <a:ext cx="12188932" cy="6858000"/>
          </a:xfrm>
          <a:prstGeom prst="rect">
            <a:avLst/>
          </a:prstGeom>
        </p:spPr>
      </p:pic>
      <p:sp>
        <p:nvSpPr>
          <p:cNvPr id="2" name="Title 1">
            <a:extLst>
              <a:ext uri="{FF2B5EF4-FFF2-40B4-BE49-F238E27FC236}">
                <a16:creationId xmlns:a16="http://schemas.microsoft.com/office/drawing/2014/main" id="{050E78D6-F072-48E7-8270-20EFBDD26F36}"/>
              </a:ext>
            </a:extLst>
          </p:cNvPr>
          <p:cNvSpPr>
            <a:spLocks noGrp="1"/>
          </p:cNvSpPr>
          <p:nvPr>
            <p:ph type="ctrTitle"/>
          </p:nvPr>
        </p:nvSpPr>
        <p:spPr>
          <a:xfrm>
            <a:off x="643467" y="643467"/>
            <a:ext cx="7164674" cy="5571066"/>
          </a:xfrm>
          <a:prstGeom prst="rect">
            <a:avLst/>
          </a:prstGeom>
        </p:spPr>
        <p:txBody>
          <a:bodyPr lIns="0" rIns="180000">
            <a:normAutofit/>
          </a:bodyPr>
          <a:lstStyle/>
          <a:p>
            <a:r>
              <a:rPr lang="en-US" sz="7200" b="1" dirty="0">
                <a:solidFill>
                  <a:schemeClr val="tx1"/>
                </a:solidFill>
              </a:rPr>
              <a:t>Retail </a:t>
            </a:r>
            <a:br>
              <a:rPr lang="en-US" sz="7200" b="1" dirty="0">
                <a:solidFill>
                  <a:schemeClr val="tx1"/>
                </a:solidFill>
              </a:rPr>
            </a:br>
            <a:r>
              <a:rPr lang="en-US" sz="7200" b="1" dirty="0">
                <a:solidFill>
                  <a:schemeClr val="tx1"/>
                </a:solidFill>
              </a:rPr>
              <a:t>Transaction</a:t>
            </a:r>
            <a:br>
              <a:rPr lang="en-US" sz="7200" b="1" dirty="0">
                <a:solidFill>
                  <a:schemeClr val="tx1"/>
                </a:solidFill>
              </a:rPr>
            </a:br>
            <a:r>
              <a:rPr lang="en-US" sz="7200" b="1" dirty="0">
                <a:solidFill>
                  <a:schemeClr val="tx1"/>
                </a:solidFill>
              </a:rPr>
              <a:t>Dataset</a:t>
            </a:r>
          </a:p>
        </p:txBody>
      </p:sp>
      <p:sp>
        <p:nvSpPr>
          <p:cNvPr id="3" name="Subtitle 2">
            <a:extLst>
              <a:ext uri="{FF2B5EF4-FFF2-40B4-BE49-F238E27FC236}">
                <a16:creationId xmlns:a16="http://schemas.microsoft.com/office/drawing/2014/main" id="{3FC7BD98-5486-489C-BAA0-A69CEFF691B3}"/>
              </a:ext>
            </a:extLst>
          </p:cNvPr>
          <p:cNvSpPr>
            <a:spLocks noGrp="1"/>
          </p:cNvSpPr>
          <p:nvPr>
            <p:ph type="subTitle" idx="1"/>
          </p:nvPr>
        </p:nvSpPr>
        <p:spPr>
          <a:xfrm>
            <a:off x="8451608" y="643467"/>
            <a:ext cx="3096926" cy="5571066"/>
          </a:xfrm>
          <a:prstGeom prst="rect">
            <a:avLst/>
          </a:prstGeom>
        </p:spPr>
        <p:txBody>
          <a:bodyPr lIns="0" rIns="0">
            <a:normAutofit/>
          </a:bodyPr>
          <a:lstStyle/>
          <a:p>
            <a:r>
              <a:rPr lang="en-US" sz="2800" dirty="0">
                <a:solidFill>
                  <a:schemeClr val="tx1"/>
                </a:solidFill>
              </a:rPr>
              <a:t>Portfolio Project 2 </a:t>
            </a:r>
          </a:p>
          <a:p>
            <a:pPr algn="ctr"/>
            <a:r>
              <a:rPr lang="en-US" sz="2800" dirty="0">
                <a:solidFill>
                  <a:schemeClr val="tx1"/>
                </a:solidFill>
              </a:rPr>
              <a:t>Presented By </a:t>
            </a:r>
          </a:p>
          <a:p>
            <a:pPr algn="ctr"/>
            <a:r>
              <a:rPr lang="en-US" sz="2800" dirty="0">
                <a:solidFill>
                  <a:schemeClr val="tx1"/>
                </a:solidFill>
              </a:rPr>
              <a:t>Sadia Moeed</a:t>
            </a:r>
          </a:p>
        </p:txBody>
      </p:sp>
      <p:cxnSp>
        <p:nvCxnSpPr>
          <p:cNvPr id="20" name="Straight Connector 19">
            <a:extLst>
              <a:ext uri="{FF2B5EF4-FFF2-40B4-BE49-F238E27FC236}">
                <a16:creationId xmlns:a16="http://schemas.microsoft.com/office/drawing/2014/main" id="{46E49661-E258-450C-8150-A91A6B30D1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39605" y="1828800"/>
            <a:ext cx="0" cy="3200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C4AFB05-917B-5EF7-136F-2F393C0F9049}"/>
              </a:ext>
            </a:extLst>
          </p:cNvPr>
          <p:cNvSpPr txBox="1"/>
          <p:nvPr/>
        </p:nvSpPr>
        <p:spPr>
          <a:xfrm>
            <a:off x="130849" y="267976"/>
            <a:ext cx="2889442" cy="369332"/>
          </a:xfrm>
          <a:prstGeom prst="rect">
            <a:avLst/>
          </a:prstGeom>
          <a:noFill/>
        </p:spPr>
        <p:txBody>
          <a:bodyPr wrap="square" rtlCol="0">
            <a:spAutoFit/>
          </a:bodyPr>
          <a:lstStyle/>
          <a:p>
            <a:r>
              <a:rPr lang="en-US" dirty="0"/>
              <a:t>Data Analytics | Cohort 24</a:t>
            </a:r>
            <a:endParaRPr lang="en-PK" dirty="0"/>
          </a:p>
        </p:txBody>
      </p:sp>
      <p:sp>
        <p:nvSpPr>
          <p:cNvPr id="5" name="TextBox 4">
            <a:extLst>
              <a:ext uri="{FF2B5EF4-FFF2-40B4-BE49-F238E27FC236}">
                <a16:creationId xmlns:a16="http://schemas.microsoft.com/office/drawing/2014/main" id="{9AE853FD-0F91-77AE-761C-D2EE5EC9F3C9}"/>
              </a:ext>
            </a:extLst>
          </p:cNvPr>
          <p:cNvSpPr txBox="1"/>
          <p:nvPr/>
        </p:nvSpPr>
        <p:spPr>
          <a:xfrm>
            <a:off x="5003045" y="4668981"/>
            <a:ext cx="2382982" cy="369332"/>
          </a:xfrm>
          <a:prstGeom prst="rect">
            <a:avLst/>
          </a:prstGeom>
          <a:noFill/>
        </p:spPr>
        <p:txBody>
          <a:bodyPr wrap="square" rtlCol="0">
            <a:spAutoFit/>
          </a:bodyPr>
          <a:lstStyle/>
          <a:p>
            <a:r>
              <a:rPr lang="en-US" dirty="0"/>
              <a:t>Jan 2020 – May 2024</a:t>
            </a:r>
            <a:endParaRPr lang="en-PK" dirty="0"/>
          </a:p>
        </p:txBody>
      </p:sp>
    </p:spTree>
    <p:extLst>
      <p:ext uri="{BB962C8B-B14F-4D97-AF65-F5344CB8AC3E}">
        <p14:creationId xmlns:p14="http://schemas.microsoft.com/office/powerpoint/2010/main" val="834050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F6F939FF-38E5-43C1-9562-6E33A2F508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54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C148A00E-633D-4DE1-A032-9D62FA291C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457"/>
            <a:ext cx="12188952" cy="228554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8B91C57-2090-466E-B05A-DA282135678E}"/>
              </a:ext>
            </a:extLst>
          </p:cNvPr>
          <p:cNvSpPr>
            <a:spLocks noGrp="1"/>
          </p:cNvSpPr>
          <p:nvPr>
            <p:ph type="title"/>
          </p:nvPr>
        </p:nvSpPr>
        <p:spPr>
          <a:xfrm>
            <a:off x="1024128" y="4971088"/>
            <a:ext cx="9720072" cy="1499616"/>
          </a:xfrm>
          <a:prstGeom prst="rect">
            <a:avLst/>
          </a:prstGeom>
        </p:spPr>
        <p:txBody>
          <a:bodyPr vert="horz" lIns="91440" tIns="45720" rIns="91440" bIns="45720" rtlCol="0">
            <a:normAutofit/>
          </a:bodyPr>
          <a:lstStyle/>
          <a:p>
            <a:r>
              <a:rPr lang="en-US" dirty="0"/>
              <a:t>Purchase Cost: </a:t>
            </a:r>
            <a:r>
              <a:rPr lang="en-US" b="1" dirty="0"/>
              <a:t>$5 – $100 per transaction</a:t>
            </a:r>
            <a:endParaRPr lang="en-US" b="1" dirty="0">
              <a:solidFill>
                <a:srgbClr val="FFFFFF"/>
              </a:solidFill>
            </a:endParaRPr>
          </a:p>
        </p:txBody>
      </p:sp>
      <p:cxnSp>
        <p:nvCxnSpPr>
          <p:cNvPr id="61" name="Straight Connector 60">
            <a:extLst>
              <a:ext uri="{FF2B5EF4-FFF2-40B4-BE49-F238E27FC236}">
                <a16:creationId xmlns:a16="http://schemas.microsoft.com/office/drawing/2014/main" id="{1F7502AC-B5F2-447A-8886-7B0FA9DBA73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5242273"/>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descr="Icon Bullets">
            <a:extLst>
              <a:ext uri="{FF2B5EF4-FFF2-40B4-BE49-F238E27FC236}">
                <a16:creationId xmlns:a16="http://schemas.microsoft.com/office/drawing/2014/main" id="{ACE5AD74-04D5-49BC-88CF-B67398F8B46C}"/>
              </a:ext>
            </a:extLst>
          </p:cNvPr>
          <p:cNvGraphicFramePr>
            <a:graphicFrameLocks noGrp="1"/>
          </p:cNvGraphicFramePr>
          <p:nvPr>
            <p:ph idx="1"/>
            <p:extLst>
              <p:ext uri="{D42A27DB-BD31-4B8C-83A1-F6EECF244321}">
                <p14:modId xmlns:p14="http://schemas.microsoft.com/office/powerpoint/2010/main" val="3114043425"/>
              </p:ext>
            </p:extLst>
          </p:nvPr>
        </p:nvGraphicFramePr>
        <p:xfrm>
          <a:off x="646176" y="915090"/>
          <a:ext cx="10896600" cy="33551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8AC98DDC-2E4C-ED38-CCF2-079CC1675333}"/>
              </a:ext>
            </a:extLst>
          </p:cNvPr>
          <p:cNvSpPr txBox="1"/>
          <p:nvPr/>
        </p:nvSpPr>
        <p:spPr>
          <a:xfrm>
            <a:off x="249380" y="221673"/>
            <a:ext cx="3449783" cy="369332"/>
          </a:xfrm>
          <a:prstGeom prst="rect">
            <a:avLst/>
          </a:prstGeom>
          <a:noFill/>
        </p:spPr>
        <p:txBody>
          <a:bodyPr wrap="square" rtlCol="0">
            <a:spAutoFit/>
          </a:bodyPr>
          <a:lstStyle/>
          <a:p>
            <a:r>
              <a:rPr lang="en-US" dirty="0"/>
              <a:t>1 Million Transactions | 13 Columns</a:t>
            </a:r>
            <a:endParaRPr lang="en-PK" dirty="0"/>
          </a:p>
        </p:txBody>
      </p:sp>
    </p:spTree>
    <p:extLst>
      <p:ext uri="{BB962C8B-B14F-4D97-AF65-F5344CB8AC3E}">
        <p14:creationId xmlns:p14="http://schemas.microsoft.com/office/powerpoint/2010/main" val="1102586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50000"/>
              </a:schemeClr>
            </a:gs>
            <a:gs pos="100000">
              <a:schemeClr val="bg1"/>
            </a:gs>
          </a:gsLst>
          <a:lin ang="7800000" scaled="0"/>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8756837-05BF-4387-B0CB-CFF921BCD6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FFEC9DA-F598-4E27-80EE-1EF9DDE397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0"/>
            <a:ext cx="46481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9EAA8D-9FA6-44DF-B373-F9F0E09DC750}"/>
              </a:ext>
            </a:extLst>
          </p:cNvPr>
          <p:cNvSpPr>
            <a:spLocks noGrp="1"/>
          </p:cNvSpPr>
          <p:nvPr>
            <p:ph type="title"/>
          </p:nvPr>
        </p:nvSpPr>
        <p:spPr>
          <a:xfrm>
            <a:off x="8187269" y="643467"/>
            <a:ext cx="3415612" cy="5571066"/>
          </a:xfrm>
        </p:spPr>
        <p:txBody>
          <a:bodyPr>
            <a:normAutofit/>
          </a:bodyPr>
          <a:lstStyle/>
          <a:p>
            <a:r>
              <a:rPr lang="en-US" sz="4800" b="1" dirty="0">
                <a:solidFill>
                  <a:schemeClr val="bg1"/>
                </a:solidFill>
              </a:rPr>
              <a:t>Assumptions</a:t>
            </a:r>
          </a:p>
        </p:txBody>
      </p:sp>
      <p:sp>
        <p:nvSpPr>
          <p:cNvPr id="5" name="Rectangle 1">
            <a:extLst>
              <a:ext uri="{FF2B5EF4-FFF2-40B4-BE49-F238E27FC236}">
                <a16:creationId xmlns:a16="http://schemas.microsoft.com/office/drawing/2014/main" id="{D13FFD34-A7E4-C75D-529F-FFFA2FB5FEC6}"/>
              </a:ext>
            </a:extLst>
          </p:cNvPr>
          <p:cNvSpPr>
            <a:spLocks noGrp="1" noChangeArrowheads="1"/>
          </p:cNvSpPr>
          <p:nvPr>
            <p:ph idx="1"/>
          </p:nvPr>
        </p:nvSpPr>
        <p:spPr bwMode="auto">
          <a:xfrm>
            <a:off x="358775" y="1299054"/>
            <a:ext cx="7053407"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None/>
              <a:tabLst/>
            </a:pPr>
            <a:r>
              <a:rPr kumimoji="0" lang="en-PK" altLang="en-PK" sz="2800" b="1" i="0" u="none" strike="noStrike" cap="none" normalizeH="0" baseline="0" dirty="0">
                <a:ln>
                  <a:noFill/>
                </a:ln>
                <a:solidFill>
                  <a:schemeClr val="tx1"/>
                </a:solidFill>
                <a:effectLst/>
                <a:latin typeface="Arial" panose="020B0604020202020204" pitchFamily="34" charset="0"/>
              </a:rPr>
              <a:t>Dataset is synthetic</a:t>
            </a:r>
            <a:r>
              <a:rPr kumimoji="0" lang="en-US" altLang="en-PK" sz="2800" b="1" i="0" u="none" strike="noStrike" cap="none" normalizeH="0" baseline="0" dirty="0">
                <a:ln>
                  <a:noFill/>
                </a:ln>
                <a:solidFill>
                  <a:schemeClr val="tx1"/>
                </a:solidFill>
                <a:effectLst/>
                <a:latin typeface="Arial" panose="020B0604020202020204" pitchFamily="34" charset="0"/>
              </a:rPr>
              <a:t>, generated using Python Faker library</a:t>
            </a:r>
          </a:p>
          <a:p>
            <a:pPr marL="0" marR="0" lvl="0" indent="0" algn="l" defTabSz="914400" rtl="0" eaLnBrk="0" fontAlgn="base" latinLnBrk="0" hangingPunct="0">
              <a:lnSpc>
                <a:spcPct val="100000"/>
              </a:lnSpc>
              <a:spcBef>
                <a:spcPct val="0"/>
              </a:spcBef>
              <a:spcAft>
                <a:spcPct val="0"/>
              </a:spcAft>
              <a:buClrTx/>
              <a:buSzTx/>
              <a:buNone/>
              <a:tabLst/>
            </a:pPr>
            <a:endParaRPr lang="en-US" altLang="en-PK"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PK" sz="1800" b="0" i="0" u="none" strike="noStrike" cap="none" normalizeH="0" baseline="0" dirty="0">
                <a:ln>
                  <a:noFill/>
                </a:ln>
                <a:solidFill>
                  <a:schemeClr val="tx1"/>
                </a:solidFill>
                <a:effectLst/>
                <a:latin typeface="Arial" panose="020B0604020202020204" pitchFamily="34" charset="0"/>
              </a:rPr>
              <a:t> </a:t>
            </a:r>
            <a:r>
              <a:rPr kumimoji="0" lang="en-PK" altLang="en-PK" sz="1800" b="0" i="0" u="none" strike="noStrike" cap="none" normalizeH="0" baseline="0" dirty="0">
                <a:ln>
                  <a:noFill/>
                </a:ln>
                <a:solidFill>
                  <a:schemeClr val="tx1"/>
                </a:solidFill>
                <a:effectLst/>
                <a:latin typeface="Arial" panose="020B0604020202020204" pitchFamily="34" charset="0"/>
              </a:rPr>
              <a:t>Transaction_ID is </a:t>
            </a:r>
            <a:r>
              <a:rPr kumimoji="0" lang="en-PK" altLang="en-PK" sz="1800" b="1" i="0" u="none" strike="noStrike" cap="none" normalizeH="0" baseline="0" dirty="0">
                <a:ln>
                  <a:noFill/>
                </a:ln>
                <a:solidFill>
                  <a:schemeClr val="tx1"/>
                </a:solidFill>
                <a:effectLst/>
                <a:latin typeface="Arial" panose="020B0604020202020204" pitchFamily="34" charset="0"/>
              </a:rPr>
              <a:t>unique identifier</a:t>
            </a:r>
            <a:r>
              <a:rPr kumimoji="0" lang="en-PK" altLang="en-PK" sz="1800" b="0" i="0" u="none" strike="noStrike" cap="none" normalizeH="0" baseline="0" dirty="0">
                <a:ln>
                  <a:noFill/>
                </a:ln>
                <a:solidFill>
                  <a:schemeClr val="tx1"/>
                </a:solidFill>
                <a:effectLst/>
                <a:latin typeface="Arial" panose="020B0604020202020204" pitchFamily="34" charset="0"/>
              </a:rPr>
              <a:t>, not time-ordered</a:t>
            </a:r>
            <a:endParaRPr kumimoji="0" lang="en-US" altLang="en-PK"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PK"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PK" sz="1800" b="0" i="0" u="none" strike="noStrike" cap="none" normalizeH="0" baseline="0" dirty="0">
                <a:ln>
                  <a:noFill/>
                </a:ln>
                <a:solidFill>
                  <a:schemeClr val="tx1"/>
                </a:solidFill>
                <a:effectLst/>
                <a:latin typeface="Arial" panose="020B0604020202020204" pitchFamily="34" charset="0"/>
              </a:rPr>
              <a:t> </a:t>
            </a:r>
            <a:r>
              <a:rPr kumimoji="0" lang="en-PK" altLang="en-PK" sz="1800" b="0" i="0" u="none" strike="noStrike" cap="none" normalizeH="0" baseline="0" dirty="0">
                <a:ln>
                  <a:noFill/>
                </a:ln>
                <a:solidFill>
                  <a:schemeClr val="tx1"/>
                </a:solidFill>
                <a:effectLst/>
                <a:latin typeface="Arial" panose="020B0604020202020204" pitchFamily="34" charset="0"/>
              </a:rPr>
              <a:t>Date column is </a:t>
            </a:r>
            <a:r>
              <a:rPr kumimoji="0" lang="en-PK" altLang="en-PK" sz="1800" b="1" i="0" u="none" strike="noStrike" cap="none" normalizeH="0" baseline="0" dirty="0">
                <a:ln>
                  <a:noFill/>
                </a:ln>
                <a:solidFill>
                  <a:schemeClr val="tx1"/>
                </a:solidFill>
                <a:effectLst/>
                <a:latin typeface="Arial" panose="020B0604020202020204" pitchFamily="34" charset="0"/>
              </a:rPr>
              <a:t>only reliable time-based column</a:t>
            </a:r>
            <a:endParaRPr kumimoji="0" lang="en-US" altLang="en-PK"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PK" sz="1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PK" sz="1800" b="0" i="0" u="none" strike="noStrike" cap="none" normalizeH="0" baseline="0" dirty="0">
                <a:ln>
                  <a:noFill/>
                </a:ln>
                <a:solidFill>
                  <a:schemeClr val="tx1"/>
                </a:solidFill>
                <a:effectLst/>
                <a:latin typeface="Arial" panose="020B0604020202020204" pitchFamily="34" charset="0"/>
              </a:rPr>
              <a:t> </a:t>
            </a:r>
            <a:r>
              <a:rPr kumimoji="0" lang="en-PK" altLang="en-PK" sz="1800" b="0" i="0" u="none" strike="noStrike" cap="none" normalizeH="0" baseline="0" dirty="0">
                <a:ln>
                  <a:noFill/>
                </a:ln>
                <a:solidFill>
                  <a:schemeClr val="tx1"/>
                </a:solidFill>
                <a:effectLst/>
                <a:latin typeface="Arial" panose="020B0604020202020204" pitchFamily="34" charset="0"/>
              </a:rPr>
              <a:t>Product column may need </a:t>
            </a:r>
            <a:r>
              <a:rPr kumimoji="0" lang="en-PK" altLang="en-PK" sz="1800" b="1" i="0" u="none" strike="noStrike" cap="none" normalizeH="0" baseline="0" dirty="0">
                <a:ln>
                  <a:noFill/>
                </a:ln>
                <a:solidFill>
                  <a:schemeClr val="tx1"/>
                </a:solidFill>
                <a:effectLst/>
                <a:latin typeface="Arial" panose="020B0604020202020204" pitchFamily="34" charset="0"/>
              </a:rPr>
              <a:t>recalculation for total items</a:t>
            </a: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57200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62376-F7A1-A9A0-C98B-934212719010}"/>
              </a:ext>
            </a:extLst>
          </p:cNvPr>
          <p:cNvSpPr>
            <a:spLocks noGrp="1"/>
          </p:cNvSpPr>
          <p:nvPr>
            <p:ph type="title"/>
          </p:nvPr>
        </p:nvSpPr>
        <p:spPr/>
        <p:txBody>
          <a:bodyPr/>
          <a:lstStyle/>
          <a:p>
            <a:r>
              <a:rPr lang="en-US" dirty="0"/>
              <a:t>Insights on Cities and Payment Methods</a:t>
            </a:r>
            <a:endParaRPr lang="en-PK" dirty="0"/>
          </a:p>
        </p:txBody>
      </p:sp>
      <p:sp>
        <p:nvSpPr>
          <p:cNvPr id="3" name="Content Placeholder 2">
            <a:extLst>
              <a:ext uri="{FF2B5EF4-FFF2-40B4-BE49-F238E27FC236}">
                <a16:creationId xmlns:a16="http://schemas.microsoft.com/office/drawing/2014/main" id="{C3086C40-F862-FF0C-EFA1-E83550235308}"/>
              </a:ext>
            </a:extLst>
          </p:cNvPr>
          <p:cNvSpPr>
            <a:spLocks noGrp="1"/>
          </p:cNvSpPr>
          <p:nvPr>
            <p:ph idx="1"/>
          </p:nvPr>
        </p:nvSpPr>
        <p:spPr>
          <a:xfrm>
            <a:off x="1024127" y="1964020"/>
            <a:ext cx="9720073" cy="4308764"/>
          </a:xfrm>
        </p:spPr>
        <p:txBody>
          <a:bodyPr>
            <a:normAutofit/>
          </a:bodyPr>
          <a:lstStyle/>
          <a:p>
            <a:pPr marL="0" indent="0">
              <a:buNone/>
            </a:pPr>
            <a:r>
              <a:rPr lang="en-US" sz="2400" dirty="0">
                <a:solidFill>
                  <a:srgbClr val="000000"/>
                </a:solidFill>
              </a:rPr>
              <a:t>1. How are transactions distributed across cities?</a:t>
            </a:r>
          </a:p>
          <a:p>
            <a:pPr marL="0" indent="0">
              <a:buNone/>
            </a:pPr>
            <a:r>
              <a:rPr lang="en-US" sz="2400" dirty="0">
                <a:solidFill>
                  <a:srgbClr val="000000"/>
                </a:solidFill>
              </a:rPr>
              <a:t>2. Are payment methods used uniformly?</a:t>
            </a:r>
          </a:p>
          <a:p>
            <a:pPr marL="0" indent="0">
              <a:buNone/>
            </a:pPr>
            <a:r>
              <a:rPr lang="en-US" sz="2400" dirty="0">
                <a:solidFill>
                  <a:srgbClr val="000000"/>
                </a:solidFill>
              </a:rPr>
              <a:t>3. Does payment method usage vary across store types?</a:t>
            </a:r>
          </a:p>
          <a:p>
            <a:pPr marL="0" indent="0">
              <a:buNone/>
            </a:pPr>
            <a:endParaRPr lang="en-US" dirty="0"/>
          </a:p>
          <a:p>
            <a:pPr marL="0" indent="0">
              <a:buNone/>
            </a:pPr>
            <a:endParaRPr lang="en-US" dirty="0"/>
          </a:p>
          <a:p>
            <a:pPr marL="0" indent="0">
              <a:buNone/>
            </a:pPr>
            <a:endParaRPr lang="en-US" b="1" dirty="0">
              <a:solidFill>
                <a:srgbClr val="000000"/>
              </a:solidFill>
            </a:endParaRPr>
          </a:p>
          <a:p>
            <a:pPr marL="0" indent="0">
              <a:buNone/>
            </a:pPr>
            <a:endParaRPr lang="en-PK" b="1" dirty="0">
              <a:solidFill>
                <a:srgbClr val="000000"/>
              </a:solidFill>
            </a:endParaRPr>
          </a:p>
        </p:txBody>
      </p:sp>
      <p:sp>
        <p:nvSpPr>
          <p:cNvPr id="7" name="TextBox 6">
            <a:extLst>
              <a:ext uri="{FF2B5EF4-FFF2-40B4-BE49-F238E27FC236}">
                <a16:creationId xmlns:a16="http://schemas.microsoft.com/office/drawing/2014/main" id="{DD2C8872-DC2B-D6C0-BFF6-55C6DA777C18}"/>
              </a:ext>
            </a:extLst>
          </p:cNvPr>
          <p:cNvSpPr txBox="1"/>
          <p:nvPr/>
        </p:nvSpPr>
        <p:spPr>
          <a:xfrm>
            <a:off x="670838" y="4118402"/>
            <a:ext cx="3305417" cy="2031325"/>
          </a:xfrm>
          <a:prstGeom prst="rect">
            <a:avLst/>
          </a:prstGeom>
          <a:solidFill>
            <a:schemeClr val="bg2"/>
          </a:solidFill>
        </p:spPr>
        <p:txBody>
          <a:bodyPr wrap="square" rtlCol="0">
            <a:spAutoFit/>
          </a:bodyPr>
          <a:lstStyle/>
          <a:p>
            <a:endParaRPr lang="en-US" dirty="0"/>
          </a:p>
          <a:p>
            <a:endParaRPr lang="en-US" dirty="0"/>
          </a:p>
          <a:p>
            <a:endParaRPr lang="en-US" dirty="0"/>
          </a:p>
          <a:p>
            <a:pPr algn="ctr"/>
            <a:r>
              <a:rPr lang="en-US" dirty="0"/>
              <a:t>Dallas and Boston have slightly higher transaction counts (~10.06%)</a:t>
            </a:r>
          </a:p>
          <a:p>
            <a:pPr algn="ctr"/>
            <a:endParaRPr lang="en-US" dirty="0"/>
          </a:p>
        </p:txBody>
      </p:sp>
      <p:pic>
        <p:nvPicPr>
          <p:cNvPr id="9" name="Graphic 8" descr="Questions with solid fill">
            <a:extLst>
              <a:ext uri="{FF2B5EF4-FFF2-40B4-BE49-F238E27FC236}">
                <a16:creationId xmlns:a16="http://schemas.microsoft.com/office/drawing/2014/main" id="{ED98EBD4-704D-731E-30E5-686801C97A6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331037" y="1835728"/>
            <a:ext cx="914400" cy="914400"/>
          </a:xfrm>
          <a:prstGeom prst="rect">
            <a:avLst/>
          </a:prstGeom>
        </p:spPr>
      </p:pic>
      <p:pic>
        <p:nvPicPr>
          <p:cNvPr id="13" name="Graphic 12" descr="Lightbulb and gear with solid fill">
            <a:extLst>
              <a:ext uri="{FF2B5EF4-FFF2-40B4-BE49-F238E27FC236}">
                <a16:creationId xmlns:a16="http://schemas.microsoft.com/office/drawing/2014/main" id="{38880316-9EDB-EB84-8627-6B03EC811B5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02467" y="4190377"/>
            <a:ext cx="642158" cy="642158"/>
          </a:xfrm>
          <a:prstGeom prst="rect">
            <a:avLst/>
          </a:prstGeom>
        </p:spPr>
      </p:pic>
      <p:sp>
        <p:nvSpPr>
          <p:cNvPr id="15" name="TextBox 14">
            <a:extLst>
              <a:ext uri="{FF2B5EF4-FFF2-40B4-BE49-F238E27FC236}">
                <a16:creationId xmlns:a16="http://schemas.microsoft.com/office/drawing/2014/main" id="{66A763E7-B4E2-37C5-0906-E0DD0D4FA5BB}"/>
              </a:ext>
            </a:extLst>
          </p:cNvPr>
          <p:cNvSpPr txBox="1"/>
          <p:nvPr/>
        </p:nvSpPr>
        <p:spPr>
          <a:xfrm>
            <a:off x="4252235" y="4118402"/>
            <a:ext cx="3284638" cy="2031325"/>
          </a:xfrm>
          <a:prstGeom prst="rect">
            <a:avLst/>
          </a:prstGeom>
          <a:solidFill>
            <a:schemeClr val="bg2"/>
          </a:solidFill>
        </p:spPr>
        <p:txBody>
          <a:bodyPr wrap="square" rtlCol="0">
            <a:spAutoFit/>
          </a:bodyPr>
          <a:lstStyle/>
          <a:p>
            <a:endParaRPr lang="en-US" dirty="0"/>
          </a:p>
          <a:p>
            <a:endParaRPr lang="en-US" dirty="0"/>
          </a:p>
          <a:p>
            <a:endParaRPr lang="en-US" dirty="0"/>
          </a:p>
          <a:p>
            <a:pPr algn="ctr"/>
            <a:r>
              <a:rPr lang="en-US" dirty="0"/>
              <a:t>Usage is fairly </a:t>
            </a:r>
            <a:r>
              <a:rPr lang="en-US" b="1" dirty="0"/>
              <a:t>uniform</a:t>
            </a:r>
            <a:r>
              <a:rPr lang="en-US" dirty="0"/>
              <a:t>, consistent across the dataset</a:t>
            </a:r>
          </a:p>
          <a:p>
            <a:pPr algn="ctr"/>
            <a:endParaRPr lang="en-US" dirty="0"/>
          </a:p>
          <a:p>
            <a:pPr algn="ctr"/>
            <a:endParaRPr lang="en-US" dirty="0"/>
          </a:p>
        </p:txBody>
      </p:sp>
      <p:sp>
        <p:nvSpPr>
          <p:cNvPr id="16" name="TextBox 15">
            <a:extLst>
              <a:ext uri="{FF2B5EF4-FFF2-40B4-BE49-F238E27FC236}">
                <a16:creationId xmlns:a16="http://schemas.microsoft.com/office/drawing/2014/main" id="{77A6E247-6EED-E3E0-02F0-6058794970B8}"/>
              </a:ext>
            </a:extLst>
          </p:cNvPr>
          <p:cNvSpPr txBox="1"/>
          <p:nvPr/>
        </p:nvSpPr>
        <p:spPr>
          <a:xfrm>
            <a:off x="7812852" y="4128932"/>
            <a:ext cx="3284637" cy="2031325"/>
          </a:xfrm>
          <a:prstGeom prst="rect">
            <a:avLst/>
          </a:prstGeom>
          <a:solidFill>
            <a:schemeClr val="bg2"/>
          </a:solidFill>
        </p:spPr>
        <p:txBody>
          <a:bodyPr wrap="square" rtlCol="0">
            <a:spAutoFit/>
          </a:bodyPr>
          <a:lstStyle/>
          <a:p>
            <a:endParaRPr lang="en-US" dirty="0"/>
          </a:p>
          <a:p>
            <a:endParaRPr lang="en-US" dirty="0"/>
          </a:p>
          <a:p>
            <a:endParaRPr lang="en-US" dirty="0"/>
          </a:p>
          <a:p>
            <a:pPr algn="ctr"/>
            <a:r>
              <a:rPr lang="en-US" dirty="0"/>
              <a:t>Payment methods show </a:t>
            </a:r>
            <a:r>
              <a:rPr lang="en-US" b="1" dirty="0"/>
              <a:t>no significant variation</a:t>
            </a:r>
            <a:r>
              <a:rPr lang="en-US" dirty="0"/>
              <a:t> across store types, Likely due to </a:t>
            </a:r>
            <a:r>
              <a:rPr lang="en-US" b="1" dirty="0"/>
              <a:t>synthetic nature</a:t>
            </a:r>
            <a:r>
              <a:rPr lang="en-US" dirty="0"/>
              <a:t> of the dataset</a:t>
            </a:r>
          </a:p>
        </p:txBody>
      </p:sp>
      <p:pic>
        <p:nvPicPr>
          <p:cNvPr id="17" name="Graphic 16" descr="Lightbulb and gear with solid fill">
            <a:extLst>
              <a:ext uri="{FF2B5EF4-FFF2-40B4-BE49-F238E27FC236}">
                <a16:creationId xmlns:a16="http://schemas.microsoft.com/office/drawing/2014/main" id="{FE2E5D10-B80F-AC51-602E-C089DA42C9F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46079" y="4190377"/>
            <a:ext cx="642158" cy="642158"/>
          </a:xfrm>
          <a:prstGeom prst="rect">
            <a:avLst/>
          </a:prstGeom>
        </p:spPr>
      </p:pic>
      <p:pic>
        <p:nvPicPr>
          <p:cNvPr id="18" name="Graphic 17" descr="Lightbulb and gear with solid fill">
            <a:extLst>
              <a:ext uri="{FF2B5EF4-FFF2-40B4-BE49-F238E27FC236}">
                <a16:creationId xmlns:a16="http://schemas.microsoft.com/office/drawing/2014/main" id="{E460B8BB-FAF5-04CB-73BB-05BE73DD895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63084" y="4190377"/>
            <a:ext cx="642158" cy="642158"/>
          </a:xfrm>
          <a:prstGeom prst="rect">
            <a:avLst/>
          </a:prstGeom>
        </p:spPr>
      </p:pic>
    </p:spTree>
    <p:extLst>
      <p:ext uri="{BB962C8B-B14F-4D97-AF65-F5344CB8AC3E}">
        <p14:creationId xmlns:p14="http://schemas.microsoft.com/office/powerpoint/2010/main" val="4035852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F6DDB-CA21-40A1-03B6-2F03AF2C17F3}"/>
              </a:ext>
            </a:extLst>
          </p:cNvPr>
          <p:cNvSpPr>
            <a:spLocks noGrp="1"/>
          </p:cNvSpPr>
          <p:nvPr>
            <p:ph type="title"/>
          </p:nvPr>
        </p:nvSpPr>
        <p:spPr/>
        <p:txBody>
          <a:bodyPr/>
          <a:lstStyle/>
          <a:p>
            <a:r>
              <a:rPr lang="en-US" dirty="0"/>
              <a:t>Visual Snapshots</a:t>
            </a:r>
            <a:endParaRPr lang="en-PK" dirty="0"/>
          </a:p>
        </p:txBody>
      </p:sp>
      <p:pic>
        <p:nvPicPr>
          <p:cNvPr id="5" name="Content Placeholder 4">
            <a:extLst>
              <a:ext uri="{FF2B5EF4-FFF2-40B4-BE49-F238E27FC236}">
                <a16:creationId xmlns:a16="http://schemas.microsoft.com/office/drawing/2014/main" id="{3EFD373D-9F56-5C9C-94F7-BFD917AF10B8}"/>
              </a:ext>
            </a:extLst>
          </p:cNvPr>
          <p:cNvPicPr>
            <a:picLocks noGrp="1" noChangeAspect="1"/>
          </p:cNvPicPr>
          <p:nvPr>
            <p:ph idx="1"/>
          </p:nvPr>
        </p:nvPicPr>
        <p:blipFill>
          <a:blip r:embed="rId2"/>
          <a:stretch>
            <a:fillRect/>
          </a:stretch>
        </p:blipFill>
        <p:spPr>
          <a:xfrm>
            <a:off x="1" y="2084831"/>
            <a:ext cx="5832764" cy="3674848"/>
          </a:xfrm>
          <a:prstGeom prst="rect">
            <a:avLst/>
          </a:prstGeom>
        </p:spPr>
      </p:pic>
      <p:pic>
        <p:nvPicPr>
          <p:cNvPr id="7" name="Picture 6">
            <a:extLst>
              <a:ext uri="{FF2B5EF4-FFF2-40B4-BE49-F238E27FC236}">
                <a16:creationId xmlns:a16="http://schemas.microsoft.com/office/drawing/2014/main" id="{631D4311-064B-F9D3-71F9-34B889210E7E}"/>
              </a:ext>
            </a:extLst>
          </p:cNvPr>
          <p:cNvPicPr>
            <a:picLocks noChangeAspect="1"/>
          </p:cNvPicPr>
          <p:nvPr/>
        </p:nvPicPr>
        <p:blipFill>
          <a:blip r:embed="rId3"/>
          <a:stretch>
            <a:fillRect/>
          </a:stretch>
        </p:blipFill>
        <p:spPr>
          <a:xfrm>
            <a:off x="3895755" y="2084829"/>
            <a:ext cx="5321821" cy="3674847"/>
          </a:xfrm>
          <a:prstGeom prst="rect">
            <a:avLst/>
          </a:prstGeom>
        </p:spPr>
      </p:pic>
      <p:pic>
        <p:nvPicPr>
          <p:cNvPr id="9" name="Picture 8">
            <a:extLst>
              <a:ext uri="{FF2B5EF4-FFF2-40B4-BE49-F238E27FC236}">
                <a16:creationId xmlns:a16="http://schemas.microsoft.com/office/drawing/2014/main" id="{FF97728B-5841-C637-F738-460483C95841}"/>
              </a:ext>
            </a:extLst>
          </p:cNvPr>
          <p:cNvPicPr>
            <a:picLocks noChangeAspect="1"/>
          </p:cNvPicPr>
          <p:nvPr/>
        </p:nvPicPr>
        <p:blipFill>
          <a:blip r:embed="rId4"/>
          <a:stretch>
            <a:fillRect/>
          </a:stretch>
        </p:blipFill>
        <p:spPr>
          <a:xfrm>
            <a:off x="7999890" y="2084827"/>
            <a:ext cx="4192109" cy="3674849"/>
          </a:xfrm>
          <a:prstGeom prst="rect">
            <a:avLst/>
          </a:prstGeom>
        </p:spPr>
      </p:pic>
    </p:spTree>
    <p:extLst>
      <p:ext uri="{BB962C8B-B14F-4D97-AF65-F5344CB8AC3E}">
        <p14:creationId xmlns:p14="http://schemas.microsoft.com/office/powerpoint/2010/main" val="3967308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41ADA27-F8D7-4034-AACF-0E2C0E2546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Rolling Dough">
            <a:extLst>
              <a:ext uri="{FF2B5EF4-FFF2-40B4-BE49-F238E27FC236}">
                <a16:creationId xmlns:a16="http://schemas.microsoft.com/office/drawing/2014/main" id="{CD3172FA-7FBF-4586-8BAE-F8681B4CC272}"/>
              </a:ext>
            </a:extLst>
          </p:cNvPr>
          <p:cNvPicPr>
            <a:picLocks noChangeAspect="1"/>
          </p:cNvPicPr>
          <p:nvPr/>
        </p:nvPicPr>
        <p:blipFill rotWithShape="1">
          <a:blip r:embed="rId3" cstate="screen">
            <a:alphaModFix amt="40000"/>
            <a:extLst>
              <a:ext uri="{28A0092B-C50C-407E-A947-70E740481C1C}">
                <a14:useLocalDpi xmlns:a14="http://schemas.microsoft.com/office/drawing/2010/main"/>
              </a:ext>
            </a:extLst>
          </a:blip>
          <a:srcRect/>
          <a:stretch/>
        </p:blipFill>
        <p:spPr>
          <a:xfrm>
            <a:off x="-1504" y="10"/>
            <a:ext cx="12191980" cy="6857990"/>
          </a:xfrm>
          <a:prstGeom prst="rect">
            <a:avLst/>
          </a:prstGeom>
        </p:spPr>
      </p:pic>
      <p:sp>
        <p:nvSpPr>
          <p:cNvPr id="2" name="Title 1">
            <a:extLst>
              <a:ext uri="{FF2B5EF4-FFF2-40B4-BE49-F238E27FC236}">
                <a16:creationId xmlns:a16="http://schemas.microsoft.com/office/drawing/2014/main" id="{44DFCA76-5DF3-4D71-A543-CF57216D5E4E}"/>
              </a:ext>
            </a:extLst>
          </p:cNvPr>
          <p:cNvSpPr>
            <a:spLocks noGrp="1"/>
          </p:cNvSpPr>
          <p:nvPr>
            <p:ph type="title"/>
          </p:nvPr>
        </p:nvSpPr>
        <p:spPr>
          <a:xfrm>
            <a:off x="1024128" y="585216"/>
            <a:ext cx="9720072" cy="1499616"/>
          </a:xfrm>
        </p:spPr>
        <p:txBody>
          <a:bodyPr>
            <a:normAutofit/>
          </a:bodyPr>
          <a:lstStyle/>
          <a:p>
            <a:r>
              <a:rPr lang="en-US" dirty="0"/>
              <a:t>Discounts &amp; Promotions Analysis</a:t>
            </a:r>
            <a:endParaRPr lang="en-US" b="1" dirty="0">
              <a:solidFill>
                <a:srgbClr val="FFFFFF"/>
              </a:solidFill>
            </a:endParaRPr>
          </a:p>
        </p:txBody>
      </p:sp>
      <p:cxnSp>
        <p:nvCxnSpPr>
          <p:cNvPr id="14" name="Straight Connector 13">
            <a:extLst>
              <a:ext uri="{FF2B5EF4-FFF2-40B4-BE49-F238E27FC236}">
                <a16:creationId xmlns:a16="http://schemas.microsoft.com/office/drawing/2014/main" id="{9CC82DC8-E7AF-4E0A-B62F-9B79E706D9F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EFAA99"/>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CBD04E21-8CE8-6DE9-187B-87714DA4206A}"/>
              </a:ext>
            </a:extLst>
          </p:cNvPr>
          <p:cNvSpPr>
            <a:spLocks noGrp="1"/>
          </p:cNvSpPr>
          <p:nvPr>
            <p:ph idx="1"/>
          </p:nvPr>
        </p:nvSpPr>
        <p:spPr>
          <a:xfrm>
            <a:off x="1234449" y="2084832"/>
            <a:ext cx="9720073" cy="4023360"/>
          </a:xfrm>
        </p:spPr>
        <p:txBody>
          <a:bodyPr/>
          <a:lstStyle/>
          <a:p>
            <a:r>
              <a:rPr lang="en-US" b="1" dirty="0">
                <a:solidFill>
                  <a:srgbClr val="000000"/>
                </a:solidFill>
              </a:rPr>
              <a:t>1. Discount Trends Over Time</a:t>
            </a:r>
          </a:p>
          <a:p>
            <a:r>
              <a:rPr lang="en-US" sz="2000" b="1" dirty="0"/>
              <a:t>    Highest discounted transactions:</a:t>
            </a:r>
            <a:r>
              <a:rPr lang="en-US" sz="2000" dirty="0"/>
              <a:t> Jan-2020 → 9,895 transactions</a:t>
            </a:r>
          </a:p>
          <a:p>
            <a:r>
              <a:rPr lang="en-US" sz="2000" b="1" dirty="0"/>
              <a:t>    Lowest discounted transactions:</a:t>
            </a:r>
            <a:r>
              <a:rPr lang="en-US" sz="2000" dirty="0"/>
              <a:t> May-2024 → 5,542 transactions</a:t>
            </a:r>
          </a:p>
          <a:p>
            <a:r>
              <a:rPr lang="en-US" b="1" dirty="0">
                <a:solidFill>
                  <a:srgbClr val="000000"/>
                </a:solidFill>
              </a:rPr>
              <a:t>2. Discounts vs Promotion Types:</a:t>
            </a:r>
          </a:p>
          <a:p>
            <a:r>
              <a:rPr lang="en-US" sz="2000" dirty="0"/>
              <a:t>    Distribution across </a:t>
            </a:r>
            <a:r>
              <a:rPr lang="en-US" sz="2000" b="1" dirty="0"/>
              <a:t>BOGO, Discount on Selected Items, and No Promotion</a:t>
            </a:r>
            <a:r>
              <a:rPr lang="en-US" sz="2000" dirty="0"/>
              <a:t> is fairly uniform</a:t>
            </a:r>
          </a:p>
          <a:p>
            <a:r>
              <a:rPr lang="en-US" sz="2000" dirty="0"/>
              <a:t>    Indicates </a:t>
            </a:r>
            <a:r>
              <a:rPr lang="en-US" sz="2000" b="1" dirty="0"/>
              <a:t>discounts are not strongly tied to promotions</a:t>
            </a:r>
            <a:r>
              <a:rPr lang="en-US" sz="2000" dirty="0"/>
              <a:t> in this dataset</a:t>
            </a:r>
          </a:p>
          <a:p>
            <a:endParaRPr lang="en-PK" sz="2000" dirty="0"/>
          </a:p>
        </p:txBody>
      </p:sp>
      <p:sp>
        <p:nvSpPr>
          <p:cNvPr id="8" name="TextBox 7">
            <a:extLst>
              <a:ext uri="{FF2B5EF4-FFF2-40B4-BE49-F238E27FC236}">
                <a16:creationId xmlns:a16="http://schemas.microsoft.com/office/drawing/2014/main" id="{6BAD8028-3FF4-EC69-CCA1-407685E379A7}"/>
              </a:ext>
            </a:extLst>
          </p:cNvPr>
          <p:cNvSpPr txBox="1"/>
          <p:nvPr/>
        </p:nvSpPr>
        <p:spPr>
          <a:xfrm>
            <a:off x="9296400" y="277091"/>
            <a:ext cx="2715484" cy="2862322"/>
          </a:xfrm>
          <a:prstGeom prst="rect">
            <a:avLst/>
          </a:prstGeom>
          <a:solidFill>
            <a:schemeClr val="bg2"/>
          </a:solidFill>
        </p:spPr>
        <p:txBody>
          <a:bodyPr wrap="square" rtlCol="0">
            <a:spAutoFit/>
          </a:bodyPr>
          <a:lstStyle/>
          <a:p>
            <a:pPr algn="ctr"/>
            <a:r>
              <a:rPr lang="en-US" b="1" dirty="0"/>
              <a:t>Seasonal Discount Pattern</a:t>
            </a:r>
          </a:p>
          <a:p>
            <a:endParaRPr lang="en-US" dirty="0"/>
          </a:p>
          <a:p>
            <a:pPr algn="ctr"/>
            <a:r>
              <a:rPr lang="en-US" dirty="0"/>
              <a:t>Discounts are highest at the start of the year to clear previous stock for new inventory. For 2024, discounts appear lowest in May because the dataset only includes transactions up to that month.</a:t>
            </a:r>
            <a:endParaRPr lang="en-PK" dirty="0"/>
          </a:p>
        </p:txBody>
      </p:sp>
    </p:spTree>
    <p:extLst>
      <p:ext uri="{BB962C8B-B14F-4D97-AF65-F5344CB8AC3E}">
        <p14:creationId xmlns:p14="http://schemas.microsoft.com/office/powerpoint/2010/main" val="816733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DFF1E-EDEE-8775-5B81-7895E325FB3B}"/>
              </a:ext>
            </a:extLst>
          </p:cNvPr>
          <p:cNvSpPr>
            <a:spLocks noGrp="1"/>
          </p:cNvSpPr>
          <p:nvPr>
            <p:ph type="title"/>
          </p:nvPr>
        </p:nvSpPr>
        <p:spPr/>
        <p:txBody>
          <a:bodyPr/>
          <a:lstStyle/>
          <a:p>
            <a:r>
              <a:rPr lang="en-US" dirty="0"/>
              <a:t>Visual Snapshot</a:t>
            </a:r>
            <a:endParaRPr lang="en-PK" dirty="0"/>
          </a:p>
        </p:txBody>
      </p:sp>
      <p:pic>
        <p:nvPicPr>
          <p:cNvPr id="5" name="Content Placeholder 4">
            <a:extLst>
              <a:ext uri="{FF2B5EF4-FFF2-40B4-BE49-F238E27FC236}">
                <a16:creationId xmlns:a16="http://schemas.microsoft.com/office/drawing/2014/main" id="{4F6EB310-15A2-3476-1575-174208B35B25}"/>
              </a:ext>
            </a:extLst>
          </p:cNvPr>
          <p:cNvPicPr>
            <a:picLocks noGrp="1" noChangeAspect="1"/>
          </p:cNvPicPr>
          <p:nvPr>
            <p:ph idx="1"/>
          </p:nvPr>
        </p:nvPicPr>
        <p:blipFill>
          <a:blip r:embed="rId2"/>
          <a:stretch>
            <a:fillRect/>
          </a:stretch>
        </p:blipFill>
        <p:spPr>
          <a:xfrm>
            <a:off x="1024128" y="1620982"/>
            <a:ext cx="10468551" cy="5001491"/>
          </a:xfrm>
          <a:prstGeom prst="rect">
            <a:avLst/>
          </a:prstGeom>
        </p:spPr>
      </p:pic>
    </p:spTree>
    <p:extLst>
      <p:ext uri="{BB962C8B-B14F-4D97-AF65-F5344CB8AC3E}">
        <p14:creationId xmlns:p14="http://schemas.microsoft.com/office/powerpoint/2010/main" val="1485747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814A5-CF8E-9262-097A-AF36AFB81A6A}"/>
              </a:ext>
            </a:extLst>
          </p:cNvPr>
          <p:cNvSpPr>
            <a:spLocks noGrp="1"/>
          </p:cNvSpPr>
          <p:nvPr>
            <p:ph type="title"/>
          </p:nvPr>
        </p:nvSpPr>
        <p:spPr/>
        <p:txBody>
          <a:bodyPr/>
          <a:lstStyle/>
          <a:p>
            <a:r>
              <a:rPr lang="en-US" dirty="0"/>
              <a:t>Sales Analysis</a:t>
            </a:r>
            <a:endParaRPr lang="en-PK" dirty="0"/>
          </a:p>
        </p:txBody>
      </p:sp>
      <p:sp>
        <p:nvSpPr>
          <p:cNvPr id="3" name="Content Placeholder 2">
            <a:extLst>
              <a:ext uri="{FF2B5EF4-FFF2-40B4-BE49-F238E27FC236}">
                <a16:creationId xmlns:a16="http://schemas.microsoft.com/office/drawing/2014/main" id="{01181155-23C0-00FE-F2B2-813D2EC5EC80}"/>
              </a:ext>
            </a:extLst>
          </p:cNvPr>
          <p:cNvSpPr>
            <a:spLocks noGrp="1"/>
          </p:cNvSpPr>
          <p:nvPr>
            <p:ph idx="1"/>
          </p:nvPr>
        </p:nvSpPr>
        <p:spPr>
          <a:xfrm>
            <a:off x="387928" y="2286000"/>
            <a:ext cx="11471564" cy="4023360"/>
          </a:xfrm>
        </p:spPr>
        <p:txBody>
          <a:bodyPr/>
          <a:lstStyle/>
          <a:p>
            <a:r>
              <a:rPr lang="en-US" dirty="0">
                <a:solidFill>
                  <a:srgbClr val="000000"/>
                </a:solidFill>
              </a:rPr>
              <a:t>  1.  When do sales peak and dip each year?</a:t>
            </a:r>
          </a:p>
          <a:p>
            <a:r>
              <a:rPr lang="en-US" dirty="0">
                <a:solidFill>
                  <a:srgbClr val="000000"/>
                </a:solidFill>
              </a:rPr>
              <a:t>  2. Are there seasonal patterns or periodic trends?</a:t>
            </a:r>
          </a:p>
          <a:p>
            <a:r>
              <a:rPr lang="en-US" dirty="0">
                <a:solidFill>
                  <a:srgbClr val="000000"/>
                </a:solidFill>
              </a:rPr>
              <a:t>  3. Do low-sales months reflect performance issues or calendar effects?</a:t>
            </a:r>
            <a:endParaRPr lang="en-PK" dirty="0">
              <a:solidFill>
                <a:srgbClr val="000000"/>
              </a:solidFill>
            </a:endParaRPr>
          </a:p>
        </p:txBody>
      </p:sp>
      <p:pic>
        <p:nvPicPr>
          <p:cNvPr id="4" name="Graphic 3" descr="Questions with solid fill">
            <a:extLst>
              <a:ext uri="{FF2B5EF4-FFF2-40B4-BE49-F238E27FC236}">
                <a16:creationId xmlns:a16="http://schemas.microsoft.com/office/drawing/2014/main" id="{3EB70B3C-AED5-7237-1605-0C0899F7211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29255" y="1828800"/>
            <a:ext cx="914400" cy="914400"/>
          </a:xfrm>
          <a:prstGeom prst="rect">
            <a:avLst/>
          </a:prstGeom>
        </p:spPr>
      </p:pic>
      <p:sp>
        <p:nvSpPr>
          <p:cNvPr id="6" name="TextBox 5">
            <a:extLst>
              <a:ext uri="{FF2B5EF4-FFF2-40B4-BE49-F238E27FC236}">
                <a16:creationId xmlns:a16="http://schemas.microsoft.com/office/drawing/2014/main" id="{42D77E9F-94E6-35A5-272E-47403FA0122A}"/>
              </a:ext>
            </a:extLst>
          </p:cNvPr>
          <p:cNvSpPr txBox="1"/>
          <p:nvPr/>
        </p:nvSpPr>
        <p:spPr>
          <a:xfrm>
            <a:off x="734291" y="4447309"/>
            <a:ext cx="3352800" cy="1477328"/>
          </a:xfrm>
          <a:prstGeom prst="rect">
            <a:avLst/>
          </a:prstGeom>
          <a:solidFill>
            <a:schemeClr val="bg2"/>
          </a:solidFill>
        </p:spPr>
        <p:txBody>
          <a:bodyPr wrap="square" rtlCol="0">
            <a:spAutoFit/>
          </a:bodyPr>
          <a:lstStyle/>
          <a:p>
            <a:pPr algn="ctr"/>
            <a:r>
              <a:rPr lang="en-US" dirty="0"/>
              <a:t>March 2023 had the highest sales (~$1,033,557) while May 2024 had the lowest (~$586,965), showing significant month-to-month fluctuations.</a:t>
            </a:r>
            <a:endParaRPr lang="en-PK" dirty="0"/>
          </a:p>
        </p:txBody>
      </p:sp>
      <p:sp>
        <p:nvSpPr>
          <p:cNvPr id="7" name="TextBox 6">
            <a:extLst>
              <a:ext uri="{FF2B5EF4-FFF2-40B4-BE49-F238E27FC236}">
                <a16:creationId xmlns:a16="http://schemas.microsoft.com/office/drawing/2014/main" id="{8A3AB7B6-7BB3-7E27-0B21-597AECE4FB27}"/>
              </a:ext>
            </a:extLst>
          </p:cNvPr>
          <p:cNvSpPr txBox="1"/>
          <p:nvPr/>
        </p:nvSpPr>
        <p:spPr>
          <a:xfrm>
            <a:off x="4682836" y="4447309"/>
            <a:ext cx="3144982" cy="1477328"/>
          </a:xfrm>
          <a:prstGeom prst="rect">
            <a:avLst/>
          </a:prstGeom>
          <a:solidFill>
            <a:schemeClr val="bg2"/>
          </a:solidFill>
        </p:spPr>
        <p:txBody>
          <a:bodyPr wrap="square" rtlCol="0">
            <a:spAutoFit/>
          </a:bodyPr>
          <a:lstStyle/>
          <a:p>
            <a:r>
              <a:rPr lang="en-US" dirty="0"/>
              <a:t>Peak sales months vary each year (e.g., Jan 2020, Oct 2021, Mar 2023), but low-sales months mostly occur early in the year</a:t>
            </a:r>
            <a:endParaRPr lang="en-PK" dirty="0"/>
          </a:p>
        </p:txBody>
      </p:sp>
      <p:sp>
        <p:nvSpPr>
          <p:cNvPr id="8" name="TextBox 7">
            <a:extLst>
              <a:ext uri="{FF2B5EF4-FFF2-40B4-BE49-F238E27FC236}">
                <a16:creationId xmlns:a16="http://schemas.microsoft.com/office/drawing/2014/main" id="{2F9FEA61-ACD5-3245-4786-9E3AA93580D4}"/>
              </a:ext>
            </a:extLst>
          </p:cNvPr>
          <p:cNvSpPr txBox="1"/>
          <p:nvPr/>
        </p:nvSpPr>
        <p:spPr>
          <a:xfrm>
            <a:off x="8451272" y="4447309"/>
            <a:ext cx="3241964" cy="1477328"/>
          </a:xfrm>
          <a:prstGeom prst="rect">
            <a:avLst/>
          </a:prstGeom>
          <a:solidFill>
            <a:schemeClr val="bg2"/>
          </a:solidFill>
        </p:spPr>
        <p:txBody>
          <a:bodyPr wrap="square" rtlCol="0">
            <a:spAutoFit/>
          </a:bodyPr>
          <a:lstStyle/>
          <a:p>
            <a:r>
              <a:rPr lang="en-US" dirty="0"/>
              <a:t>February consistently shows lower total sales due to fewer days in the month, not due to performance issues; daily sales remain consistent.</a:t>
            </a:r>
            <a:endParaRPr lang="en-PK" dirty="0"/>
          </a:p>
        </p:txBody>
      </p:sp>
    </p:spTree>
    <p:extLst>
      <p:ext uri="{BB962C8B-B14F-4D97-AF65-F5344CB8AC3E}">
        <p14:creationId xmlns:p14="http://schemas.microsoft.com/office/powerpoint/2010/main" val="617232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6DEE8-8680-5E87-2683-074485EBC929}"/>
              </a:ext>
            </a:extLst>
          </p:cNvPr>
          <p:cNvSpPr>
            <a:spLocks noGrp="1"/>
          </p:cNvSpPr>
          <p:nvPr>
            <p:ph type="title"/>
          </p:nvPr>
        </p:nvSpPr>
        <p:spPr/>
        <p:txBody>
          <a:bodyPr/>
          <a:lstStyle/>
          <a:p>
            <a:r>
              <a:rPr lang="en-US" dirty="0"/>
              <a:t>Visual Snapshot</a:t>
            </a:r>
            <a:endParaRPr lang="en-PK" dirty="0"/>
          </a:p>
        </p:txBody>
      </p:sp>
      <p:pic>
        <p:nvPicPr>
          <p:cNvPr id="5" name="Content Placeholder 4">
            <a:extLst>
              <a:ext uri="{FF2B5EF4-FFF2-40B4-BE49-F238E27FC236}">
                <a16:creationId xmlns:a16="http://schemas.microsoft.com/office/drawing/2014/main" id="{CD42C027-CC46-BF81-8848-EC4277D5176C}"/>
              </a:ext>
            </a:extLst>
          </p:cNvPr>
          <p:cNvPicPr>
            <a:picLocks noGrp="1" noChangeAspect="1"/>
          </p:cNvPicPr>
          <p:nvPr>
            <p:ph idx="1"/>
          </p:nvPr>
        </p:nvPicPr>
        <p:blipFill>
          <a:blip r:embed="rId2"/>
          <a:stretch>
            <a:fillRect/>
          </a:stretch>
        </p:blipFill>
        <p:spPr>
          <a:xfrm>
            <a:off x="221674" y="1856510"/>
            <a:ext cx="11166762" cy="4452216"/>
          </a:xfrm>
          <a:prstGeom prst="rect">
            <a:avLst/>
          </a:prstGeom>
        </p:spPr>
      </p:pic>
    </p:spTree>
    <p:extLst>
      <p:ext uri="{BB962C8B-B14F-4D97-AF65-F5344CB8AC3E}">
        <p14:creationId xmlns:p14="http://schemas.microsoft.com/office/powerpoint/2010/main" val="112894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FA7CD-BB91-71C6-FACA-9CA15E0898B2}"/>
              </a:ext>
            </a:extLst>
          </p:cNvPr>
          <p:cNvSpPr>
            <a:spLocks noGrp="1"/>
          </p:cNvSpPr>
          <p:nvPr>
            <p:ph type="title"/>
          </p:nvPr>
        </p:nvSpPr>
        <p:spPr/>
        <p:txBody>
          <a:bodyPr/>
          <a:lstStyle/>
          <a:p>
            <a:r>
              <a:rPr lang="en-US" dirty="0"/>
              <a:t>Conclusion</a:t>
            </a:r>
            <a:endParaRPr lang="en-PK" dirty="0"/>
          </a:p>
        </p:txBody>
      </p:sp>
      <p:sp>
        <p:nvSpPr>
          <p:cNvPr id="3" name="Content Placeholder 2">
            <a:extLst>
              <a:ext uri="{FF2B5EF4-FFF2-40B4-BE49-F238E27FC236}">
                <a16:creationId xmlns:a16="http://schemas.microsoft.com/office/drawing/2014/main" id="{45ACED8C-5A00-9D75-286A-C24BADD809FD}"/>
              </a:ext>
            </a:extLst>
          </p:cNvPr>
          <p:cNvSpPr>
            <a:spLocks noGrp="1"/>
          </p:cNvSpPr>
          <p:nvPr>
            <p:ph idx="1"/>
          </p:nvPr>
        </p:nvSpPr>
        <p:spPr>
          <a:xfrm>
            <a:off x="1024128" y="2286000"/>
            <a:ext cx="4323727" cy="4023360"/>
          </a:xfrm>
        </p:spPr>
        <p:txBody>
          <a:bodyPr>
            <a:normAutofit/>
          </a:bodyPr>
          <a:lstStyle/>
          <a:p>
            <a:pPr algn="ctr"/>
            <a:r>
              <a:rPr lang="en-US" sz="2800" b="1" dirty="0">
                <a:solidFill>
                  <a:srgbClr val="000000"/>
                </a:solidFill>
              </a:rPr>
              <a:t>RFM Analysis Insights</a:t>
            </a:r>
          </a:p>
          <a:p>
            <a:pPr marL="0" indent="0" algn="ctr">
              <a:buNone/>
            </a:pPr>
            <a:r>
              <a:rPr lang="en-US" sz="2000" dirty="0"/>
              <a:t>Conducted at the customer category level due to the absence of unique customer IDs, RFM analysis identified </a:t>
            </a:r>
            <a:r>
              <a:rPr lang="en-US" sz="2000" b="1" dirty="0"/>
              <a:t>Homemakers as high-value customers</a:t>
            </a:r>
            <a:r>
              <a:rPr lang="en-US" sz="2000" dirty="0"/>
              <a:t>, while </a:t>
            </a:r>
            <a:r>
              <a:rPr lang="en-US" sz="2000" b="1" dirty="0"/>
              <a:t>Middle-Aged and Professionals</a:t>
            </a:r>
            <a:r>
              <a:rPr lang="en-US" sz="2000" dirty="0"/>
              <a:t> may benefit from </a:t>
            </a:r>
            <a:r>
              <a:rPr lang="en-US" sz="2000" b="1" dirty="0"/>
              <a:t>targeted engagement strategies</a:t>
            </a:r>
            <a:r>
              <a:rPr lang="en-US" sz="2000" dirty="0"/>
              <a:t> like loyalty programs or personalized offers to improve purchase frequency and spending.</a:t>
            </a:r>
            <a:endParaRPr lang="en-PK" sz="2000" dirty="0"/>
          </a:p>
        </p:txBody>
      </p:sp>
      <p:sp>
        <p:nvSpPr>
          <p:cNvPr id="5" name="Content Placeholder 2">
            <a:extLst>
              <a:ext uri="{FF2B5EF4-FFF2-40B4-BE49-F238E27FC236}">
                <a16:creationId xmlns:a16="http://schemas.microsoft.com/office/drawing/2014/main" id="{D45918B6-D285-96C7-8E77-D90E4B4FC6F4}"/>
              </a:ext>
            </a:extLst>
          </p:cNvPr>
          <p:cNvSpPr txBox="1">
            <a:spLocks/>
          </p:cNvSpPr>
          <p:nvPr/>
        </p:nvSpPr>
        <p:spPr>
          <a:xfrm>
            <a:off x="6096000" y="2286000"/>
            <a:ext cx="4323727" cy="4023360"/>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algn="ctr"/>
            <a:r>
              <a:rPr lang="en-US" sz="2800" b="1" dirty="0">
                <a:solidFill>
                  <a:srgbClr val="000000"/>
                </a:solidFill>
              </a:rPr>
              <a:t>Market Basket Analysis Insights</a:t>
            </a:r>
          </a:p>
          <a:p>
            <a:pPr marL="0" indent="0" algn="ctr">
              <a:buNone/>
            </a:pPr>
            <a:r>
              <a:rPr lang="en-US" sz="2000" dirty="0"/>
              <a:t>Although 80% of transactions contain two or more items, the occurrence of specific multi-item combinations </a:t>
            </a:r>
            <a:r>
              <a:rPr lang="en-US" sz="2000" b="1" dirty="0"/>
              <a:t>is sparse</a:t>
            </a:r>
            <a:r>
              <a:rPr lang="en-US" sz="2000" dirty="0"/>
              <a:t>, making repeated patterns rare. As a result, </a:t>
            </a:r>
            <a:r>
              <a:rPr lang="en-US" sz="2000" b="1" dirty="0"/>
              <a:t>no frequent multi-item </a:t>
            </a:r>
            <a:r>
              <a:rPr lang="en-US" sz="2000" b="1" dirty="0" err="1"/>
              <a:t>itemsets</a:t>
            </a:r>
            <a:r>
              <a:rPr lang="en-US" sz="2000" b="1" dirty="0"/>
              <a:t> met the minimum support threshold</a:t>
            </a:r>
            <a:r>
              <a:rPr lang="en-US" sz="2000" dirty="0"/>
              <a:t>, and meaningful association rules could not be generated. This indicates that while customers often buy multiple items, the variety of combinations is high.</a:t>
            </a:r>
            <a:endParaRPr lang="en-PK" sz="2000" dirty="0"/>
          </a:p>
        </p:txBody>
      </p:sp>
    </p:spTree>
    <p:extLst>
      <p:ext uri="{BB962C8B-B14F-4D97-AF65-F5344CB8AC3E}">
        <p14:creationId xmlns:p14="http://schemas.microsoft.com/office/powerpoint/2010/main" val="3773824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1063F05-99EF-4DA3-B595-4E26670F29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gradFill>
            <a:gsLst>
              <a:gs pos="0">
                <a:schemeClr val="accent6">
                  <a:lumMod val="50000"/>
                </a:schemeClr>
              </a:gs>
              <a:gs pos="100000">
                <a:schemeClr val="bg1"/>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904461-E85A-43E7-AA0B-B7DF596CA62F}"/>
              </a:ext>
            </a:extLst>
          </p:cNvPr>
          <p:cNvSpPr>
            <a:spLocks noGrp="1"/>
          </p:cNvSpPr>
          <p:nvPr>
            <p:ph type="title"/>
          </p:nvPr>
        </p:nvSpPr>
        <p:spPr>
          <a:xfrm>
            <a:off x="1024129" y="585216"/>
            <a:ext cx="3779085" cy="1499616"/>
          </a:xfrm>
          <a:prstGeom prst="rect">
            <a:avLst/>
          </a:prstGeom>
        </p:spPr>
        <p:txBody>
          <a:bodyPr lIns="0" tIns="108000">
            <a:normAutofit/>
          </a:bodyPr>
          <a:lstStyle/>
          <a:p>
            <a:r>
              <a:rPr lang="en-US" sz="5400" b="1" dirty="0">
                <a:solidFill>
                  <a:srgbClr val="FFFFFF"/>
                </a:solidFill>
              </a:rPr>
              <a:t>Thank You</a:t>
            </a:r>
          </a:p>
        </p:txBody>
      </p:sp>
      <p:cxnSp>
        <p:nvCxnSpPr>
          <p:cNvPr id="12" name="Straight Connector 11">
            <a:extLst>
              <a:ext uri="{FF2B5EF4-FFF2-40B4-BE49-F238E27FC236}">
                <a16:creationId xmlns:a16="http://schemas.microsoft.com/office/drawing/2014/main" id="{E0A835C2-2B9B-4174-AA2C-60A4F13119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D39F4A"/>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BBDDBE1-00CD-4A90-9BA9-5E79F6C6FDE0}"/>
              </a:ext>
            </a:extLst>
          </p:cNvPr>
          <p:cNvSpPr>
            <a:spLocks noGrp="1"/>
          </p:cNvSpPr>
          <p:nvPr>
            <p:ph idx="1"/>
          </p:nvPr>
        </p:nvSpPr>
        <p:spPr>
          <a:xfrm>
            <a:off x="838418" y="3103419"/>
            <a:ext cx="3791711" cy="3931920"/>
          </a:xfrm>
          <a:prstGeom prst="rect">
            <a:avLst/>
          </a:prstGeom>
        </p:spPr>
        <p:txBody>
          <a:bodyPr>
            <a:normAutofit/>
          </a:bodyPr>
          <a:lstStyle/>
          <a:p>
            <a:pPr marL="0" indent="0" algn="ctr">
              <a:buNone/>
            </a:pPr>
            <a:br>
              <a:rPr lang="en-US" dirty="0">
                <a:solidFill>
                  <a:srgbClr val="FFFFFF"/>
                </a:solidFill>
              </a:rPr>
            </a:br>
            <a:r>
              <a:rPr lang="en-US" sz="3600" dirty="0">
                <a:solidFill>
                  <a:srgbClr val="FFFFFF"/>
                </a:solidFill>
              </a:rPr>
              <a:t>Any Questions?</a:t>
            </a:r>
          </a:p>
        </p:txBody>
      </p:sp>
      <p:pic>
        <p:nvPicPr>
          <p:cNvPr id="5" name="Picture 4" descr="Restaurant Open Sign">
            <a:extLst>
              <a:ext uri="{FF2B5EF4-FFF2-40B4-BE49-F238E27FC236}">
                <a16:creationId xmlns:a16="http://schemas.microsoft.com/office/drawing/2014/main" id="{4BB88093-7048-42AA-9AFC-B007B4E797A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468548" y="10"/>
            <a:ext cx="6723452" cy="6857990"/>
          </a:xfrm>
          <a:prstGeom prst="rect">
            <a:avLst/>
          </a:prstGeom>
        </p:spPr>
      </p:pic>
    </p:spTree>
    <p:extLst>
      <p:ext uri="{BB962C8B-B14F-4D97-AF65-F5344CB8AC3E}">
        <p14:creationId xmlns:p14="http://schemas.microsoft.com/office/powerpoint/2010/main" val="21570444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7A7C301-87CC-4EB1-AF40-15075522FC58}">
  <ds:schemaRefs>
    <ds:schemaRef ds:uri="http://schemas.microsoft.com/sharepoint/v3/contenttype/forms"/>
  </ds:schemaRefs>
</ds:datastoreItem>
</file>

<file path=customXml/itemProps2.xml><?xml version="1.0" encoding="utf-8"?>
<ds:datastoreItem xmlns:ds="http://schemas.openxmlformats.org/officeDocument/2006/customXml" ds:itemID="{6EA402E5-52EF-430B-8CCB-B4AAA8C467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5231547-F69E-41A9-93A9-B70B5E3064F1}">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Retail design</Template>
  <TotalTime>113</TotalTime>
  <Words>512</Words>
  <Application>Microsoft Office PowerPoint</Application>
  <PresentationFormat>Widescreen</PresentationFormat>
  <Paragraphs>77</Paragraphs>
  <Slides>11</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Tw Cen MT</vt:lpstr>
      <vt:lpstr>Tw Cen MT Condensed</vt:lpstr>
      <vt:lpstr>Wingdings 3</vt:lpstr>
      <vt:lpstr>Integral</vt:lpstr>
      <vt:lpstr>Retail  Transaction Dataset</vt:lpstr>
      <vt:lpstr>Purchase Cost: $5 – $100 per transaction</vt:lpstr>
      <vt:lpstr>Assumptions</vt:lpstr>
      <vt:lpstr>Insights on Cities and Payment Methods</vt:lpstr>
      <vt:lpstr>Visual Snapshots</vt:lpstr>
      <vt:lpstr>Discounts &amp; Promotions Analysis</vt:lpstr>
      <vt:lpstr>Visual Snapshot</vt:lpstr>
      <vt:lpstr>Sales Analysis</vt:lpstr>
      <vt:lpstr>Visual Snapshot</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sadia moeed</dc:creator>
  <cp:lastModifiedBy>sadia moeed</cp:lastModifiedBy>
  <cp:revision>1</cp:revision>
  <dcterms:created xsi:type="dcterms:W3CDTF">2026-01-10T22:14:11Z</dcterms:created>
  <dcterms:modified xsi:type="dcterms:W3CDTF">2026-01-11T00:07:20Z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